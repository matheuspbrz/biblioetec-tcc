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4"/>
  </p:sldMasterIdLst>
  <p:notesMasterIdLst>
    <p:notesMasterId r:id="rId18"/>
  </p:notesMasterIdLst>
  <p:sldIdLst>
    <p:sldId id="256" r:id="rId5"/>
    <p:sldId id="288" r:id="rId6"/>
    <p:sldId id="261" r:id="rId7"/>
    <p:sldId id="295" r:id="rId8"/>
    <p:sldId id="296" r:id="rId9"/>
    <p:sldId id="300" r:id="rId10"/>
    <p:sldId id="301" r:id="rId11"/>
    <p:sldId id="298" r:id="rId12"/>
    <p:sldId id="299" r:id="rId13"/>
    <p:sldId id="270" r:id="rId14"/>
    <p:sldId id="302" r:id="rId15"/>
    <p:sldId id="303" r:id="rId16"/>
    <p:sldId id="304" r:id="rId17"/>
  </p:sldIdLst>
  <p:sldSz cx="9144000" cy="5143500" type="screen16x9"/>
  <p:notesSz cx="6858000" cy="9144000"/>
  <p:embeddedFontLst>
    <p:embeddedFont>
      <p:font typeface="Arvo" panose="020B0604020202020204" charset="0"/>
      <p:regular r:id="rId19"/>
      <p:bold r:id="rId20"/>
      <p:italic r:id="rId21"/>
      <p:boldItalic r:id="rId22"/>
    </p:embeddedFont>
    <p:embeddedFont>
      <p:font typeface="Roboto Condensed" panose="02000000000000000000" pitchFamily="2" charset="0"/>
      <p:regular r:id="rId23"/>
      <p:bold r:id="rId24"/>
      <p:italic r:id="rId25"/>
      <p:boldItalic r:id="rId26"/>
    </p:embeddedFont>
    <p:embeddedFont>
      <p:font typeface="Roboto Condensed Light" panose="02000000000000000000" pitchFamily="2" charset="0"/>
      <p:regular r:id="rId27"/>
      <p: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27665BA-8202-44FC-AD62-C9F0E3EA811A}">
  <a:tblStyle styleId="{E27665BA-8202-44FC-AD62-C9F0E3EA811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15DE48A-E3B5-44D0-98CB-AE0B3FDC0379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42" d="100"/>
          <a:sy n="142" d="100"/>
        </p:scale>
        <p:origin x="714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customXml" Target="../customXml/item3.xml"/><Relationship Id="rId21" Type="http://schemas.openxmlformats.org/officeDocument/2006/relationships/font" Target="fonts/font3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7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2.fntdata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6.fntdata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6.xml"/><Relationship Id="rId19" Type="http://schemas.openxmlformats.org/officeDocument/2006/relationships/font" Target="fonts/font1.fntdata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debaa7b3a2_1_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1" name="Google Shape;741;gdebaa7b3a2_1_2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19351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954790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93003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397690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031021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521904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5ed75ccf_0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5ed75ccf_0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oogle Shape;19;p2"/>
          <p:cNvGrpSpPr/>
          <p:nvPr/>
        </p:nvGrpSpPr>
        <p:grpSpPr>
          <a:xfrm flipH="1">
            <a:off x="0" y="4217924"/>
            <a:ext cx="9153106" cy="304551"/>
            <a:chOff x="-24158748" y="330075"/>
            <a:chExt cx="30568423" cy="1699506"/>
          </a:xfrm>
          <a:solidFill>
            <a:srgbClr val="CC3300"/>
          </a:solidFill>
        </p:grpSpPr>
        <p:sp>
          <p:nvSpPr>
            <p:cNvPr id="20" name="Google Shape;20;p2"/>
            <p:cNvSpPr/>
            <p:nvPr/>
          </p:nvSpPr>
          <p:spPr>
            <a:xfrm>
              <a:off x="-24158748" y="330081"/>
              <a:ext cx="28908000" cy="16995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4710175" y="330075"/>
              <a:ext cx="1699500" cy="1699500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>
            <a:off x="685800" y="1090749"/>
            <a:ext cx="6578950" cy="327945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chemeClr val="accent4">
                    <a:lumMod val="25000"/>
                  </a:schemeClr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"/>
          <p:cNvSpPr/>
          <p:nvPr/>
        </p:nvSpPr>
        <p:spPr>
          <a:xfrm rot="10800000">
            <a:off x="6946842" y="4948334"/>
            <a:ext cx="394200" cy="131400"/>
          </a:xfrm>
          <a:prstGeom prst="triangle">
            <a:avLst>
              <a:gd name="adj" fmla="val 32425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4" name="Google Shape;64;p5"/>
          <p:cNvGrpSpPr/>
          <p:nvPr/>
        </p:nvGrpSpPr>
        <p:grpSpPr>
          <a:xfrm flipH="1">
            <a:off x="7106450" y="4472723"/>
            <a:ext cx="2040837" cy="670795"/>
            <a:chOff x="1297954" y="330075"/>
            <a:chExt cx="5169293" cy="1699506"/>
          </a:xfrm>
        </p:grpSpPr>
        <p:sp>
          <p:nvSpPr>
            <p:cNvPr id="65" name="Google Shape;65;p5"/>
            <p:cNvSpPr/>
            <p:nvPr/>
          </p:nvSpPr>
          <p:spPr>
            <a:xfrm>
              <a:off x="1297954" y="330081"/>
              <a:ext cx="3476700" cy="1699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5"/>
            <p:cNvSpPr/>
            <p:nvPr/>
          </p:nvSpPr>
          <p:spPr>
            <a:xfrm>
              <a:off x="4767747" y="330075"/>
              <a:ext cx="1699500" cy="16995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" name="Google Shape;67;p5"/>
          <p:cNvGrpSpPr/>
          <p:nvPr/>
        </p:nvGrpSpPr>
        <p:grpSpPr>
          <a:xfrm flipH="1">
            <a:off x="6949809" y="4646738"/>
            <a:ext cx="2199863" cy="304563"/>
            <a:chOff x="-5827153" y="330075"/>
            <a:chExt cx="12276019" cy="1699569"/>
          </a:xfrm>
          <a:solidFill>
            <a:srgbClr val="CC3300"/>
          </a:solidFill>
        </p:grpSpPr>
        <p:sp>
          <p:nvSpPr>
            <p:cNvPr id="68" name="Google Shape;68;p5"/>
            <p:cNvSpPr/>
            <p:nvPr/>
          </p:nvSpPr>
          <p:spPr>
            <a:xfrm>
              <a:off x="-5827153" y="330144"/>
              <a:ext cx="10612200" cy="16995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5"/>
            <p:cNvSpPr/>
            <p:nvPr/>
          </p:nvSpPr>
          <p:spPr>
            <a:xfrm>
              <a:off x="4749366" y="330075"/>
              <a:ext cx="1699500" cy="1699500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0" name="Google Shape;70;p5"/>
          <p:cNvGrpSpPr/>
          <p:nvPr/>
        </p:nvGrpSpPr>
        <p:grpSpPr>
          <a:xfrm>
            <a:off x="-4" y="40"/>
            <a:ext cx="7072430" cy="1327315"/>
            <a:chOff x="-4" y="40"/>
            <a:chExt cx="7072430" cy="1327315"/>
          </a:xfrm>
        </p:grpSpPr>
        <p:sp>
          <p:nvSpPr>
            <p:cNvPr id="71" name="Google Shape;71;p5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72" name="Google Shape;72;p5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73" name="Google Shape;73;p5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74" name="Google Shape;74;p5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75" name="Google Shape;75;p5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76" name="Google Shape;76;p5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77" name="Google Shape;77;p5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sp>
        <p:nvSpPr>
          <p:cNvPr id="78" name="Google Shape;78;p5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5"/>
          <p:cNvSpPr txBox="1">
            <a:spLocks noGrp="1"/>
          </p:cNvSpPr>
          <p:nvPr>
            <p:ph type="body" idx="1"/>
          </p:nvPr>
        </p:nvSpPr>
        <p:spPr>
          <a:xfrm>
            <a:off x="814275" y="1327350"/>
            <a:ext cx="6132600" cy="314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▰"/>
              <a:defRPr/>
            </a:lvl1pPr>
            <a:lvl2pPr marL="914400" lvl="1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2pPr>
            <a:lvl3pPr marL="1371600" lvl="2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3pPr>
            <a:lvl4pPr marL="1828800" lvl="3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4pPr>
            <a:lvl5pPr marL="2286000" lvl="4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5pPr>
            <a:lvl6pPr marL="2743200" lvl="5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6pPr>
            <a:lvl7pPr marL="3200400" lvl="6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7pPr>
            <a:lvl8pPr marL="3657600" lvl="7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8pPr>
            <a:lvl9pPr marL="4114800" lvl="8" indent="-381000">
              <a:spcBef>
                <a:spcPts val="1000"/>
              </a:spcBef>
              <a:spcAft>
                <a:spcPts val="1000"/>
              </a:spcAft>
              <a:buSzPts val="2400"/>
              <a:buChar char="▻"/>
              <a:defRPr/>
            </a:lvl9pPr>
          </a:lstStyle>
          <a:p>
            <a:endParaRPr/>
          </a:p>
        </p:txBody>
      </p:sp>
      <p:sp>
        <p:nvSpPr>
          <p:cNvPr id="80" name="Google Shape;80;p5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pic>
        <p:nvPicPr>
          <p:cNvPr id="23" name="Imagem 22">
            <a:extLst>
              <a:ext uri="{FF2B5EF4-FFF2-40B4-BE49-F238E27FC236}">
                <a16:creationId xmlns:a16="http://schemas.microsoft.com/office/drawing/2014/main" id="{4C783854-D437-4F64-AF58-A347B1BE188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1945" t="39479" r="13090" b="40414"/>
          <a:stretch/>
        </p:blipFill>
        <p:spPr>
          <a:xfrm>
            <a:off x="7254359" y="0"/>
            <a:ext cx="1851041" cy="331409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0A2D53AD-0A95-4773-8CD7-A373E7483B0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644" y="4599895"/>
            <a:ext cx="661100" cy="41644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oogle Shape;82;p6"/>
          <p:cNvGrpSpPr/>
          <p:nvPr/>
        </p:nvGrpSpPr>
        <p:grpSpPr>
          <a:xfrm>
            <a:off x="-4" y="40"/>
            <a:ext cx="7072430" cy="1327315"/>
            <a:chOff x="-4" y="40"/>
            <a:chExt cx="7072430" cy="1327315"/>
          </a:xfrm>
        </p:grpSpPr>
        <p:sp>
          <p:nvSpPr>
            <p:cNvPr id="83" name="Google Shape;83;p6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84" name="Google Shape;84;p6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85" name="Google Shape;85;p6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86" name="Google Shape;86;p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87" name="Google Shape;87;p6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88" name="Google Shape;88;p6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89" name="Google Shape;89;p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sp>
        <p:nvSpPr>
          <p:cNvPr id="91" name="Google Shape;91;p6"/>
          <p:cNvSpPr/>
          <p:nvPr/>
        </p:nvSpPr>
        <p:spPr>
          <a:xfrm rot="10800000">
            <a:off x="6946842" y="4948334"/>
            <a:ext cx="394200" cy="131400"/>
          </a:xfrm>
          <a:prstGeom prst="triangle">
            <a:avLst>
              <a:gd name="adj" fmla="val 32425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2" name="Google Shape;92;p6"/>
          <p:cNvGrpSpPr/>
          <p:nvPr/>
        </p:nvGrpSpPr>
        <p:grpSpPr>
          <a:xfrm flipH="1">
            <a:off x="7106450" y="4472723"/>
            <a:ext cx="2040837" cy="670795"/>
            <a:chOff x="1297954" y="330075"/>
            <a:chExt cx="5169293" cy="1699506"/>
          </a:xfrm>
        </p:grpSpPr>
        <p:sp>
          <p:nvSpPr>
            <p:cNvPr id="93" name="Google Shape;93;p6"/>
            <p:cNvSpPr/>
            <p:nvPr/>
          </p:nvSpPr>
          <p:spPr>
            <a:xfrm>
              <a:off x="1297954" y="330081"/>
              <a:ext cx="3476700" cy="1699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6"/>
            <p:cNvSpPr/>
            <p:nvPr/>
          </p:nvSpPr>
          <p:spPr>
            <a:xfrm>
              <a:off x="4767747" y="330075"/>
              <a:ext cx="1699500" cy="16995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5" name="Google Shape;95;p6"/>
          <p:cNvGrpSpPr/>
          <p:nvPr/>
        </p:nvGrpSpPr>
        <p:grpSpPr>
          <a:xfrm flipH="1">
            <a:off x="6949809" y="4646738"/>
            <a:ext cx="2199863" cy="304563"/>
            <a:chOff x="-5827153" y="330075"/>
            <a:chExt cx="12276019" cy="1699569"/>
          </a:xfrm>
          <a:solidFill>
            <a:srgbClr val="CC3300"/>
          </a:solidFill>
        </p:grpSpPr>
        <p:sp>
          <p:nvSpPr>
            <p:cNvPr id="96" name="Google Shape;96;p6"/>
            <p:cNvSpPr/>
            <p:nvPr/>
          </p:nvSpPr>
          <p:spPr>
            <a:xfrm>
              <a:off x="-5827153" y="330144"/>
              <a:ext cx="10612200" cy="16995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97;p6"/>
            <p:cNvSpPr/>
            <p:nvPr/>
          </p:nvSpPr>
          <p:spPr>
            <a:xfrm>
              <a:off x="4749366" y="330075"/>
              <a:ext cx="1699500" cy="1699500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8" name="Google Shape;98;p6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6"/>
          <p:cNvSpPr txBox="1">
            <a:spLocks noGrp="1"/>
          </p:cNvSpPr>
          <p:nvPr>
            <p:ph type="body" idx="1"/>
          </p:nvPr>
        </p:nvSpPr>
        <p:spPr>
          <a:xfrm>
            <a:off x="814275" y="1537988"/>
            <a:ext cx="3378300" cy="27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marL="1371600" lvl="2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marL="1828800" lvl="3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marL="2286000" lvl="4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marL="2743200" lvl="5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marL="3200400" lvl="6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marL="3657600" lvl="7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marL="4114800" lvl="8" indent="-355600"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>
            <a:endParaRPr/>
          </a:p>
        </p:txBody>
      </p:sp>
      <p:sp>
        <p:nvSpPr>
          <p:cNvPr id="100" name="Google Shape;100;p6"/>
          <p:cNvSpPr txBox="1">
            <a:spLocks noGrp="1"/>
          </p:cNvSpPr>
          <p:nvPr>
            <p:ph type="body" idx="2"/>
          </p:nvPr>
        </p:nvSpPr>
        <p:spPr>
          <a:xfrm>
            <a:off x="4396123" y="1537988"/>
            <a:ext cx="3378300" cy="27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marL="1371600" lvl="2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marL="1828800" lvl="3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marL="2286000" lvl="4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marL="2743200" lvl="5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marL="3200400" lvl="6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marL="3657600" lvl="7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marL="4114800" lvl="8" indent="-355600"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>
            <a:endParaRPr/>
          </a:p>
        </p:txBody>
      </p:sp>
      <p:sp>
        <p:nvSpPr>
          <p:cNvPr id="101" name="Google Shape;101;p6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pic>
        <p:nvPicPr>
          <p:cNvPr id="24" name="Imagem 23">
            <a:extLst>
              <a:ext uri="{FF2B5EF4-FFF2-40B4-BE49-F238E27FC236}">
                <a16:creationId xmlns:a16="http://schemas.microsoft.com/office/drawing/2014/main" id="{E25FFAEC-E84D-4EB3-9241-7F9B5C78DD5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1945" t="39479" r="13090" b="40414"/>
          <a:stretch/>
        </p:blipFill>
        <p:spPr>
          <a:xfrm>
            <a:off x="7254359" y="0"/>
            <a:ext cx="1851041" cy="331409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9492662E-DE97-456D-B891-4F5E0D8172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644" y="4599895"/>
            <a:ext cx="661100" cy="41644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125;p8"/>
          <p:cNvGrpSpPr/>
          <p:nvPr/>
        </p:nvGrpSpPr>
        <p:grpSpPr>
          <a:xfrm>
            <a:off x="-4" y="40"/>
            <a:ext cx="7072430" cy="1327315"/>
            <a:chOff x="-4" y="40"/>
            <a:chExt cx="7072430" cy="1327315"/>
          </a:xfrm>
        </p:grpSpPr>
        <p:sp>
          <p:nvSpPr>
            <p:cNvPr id="126" name="Google Shape;126;p8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127" name="Google Shape;127;p8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128" name="Google Shape;128;p8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129" name="Google Shape;129;p8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130" name="Google Shape;130;p8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131" name="Google Shape;131;p8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132" name="Google Shape;132;p8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sp>
        <p:nvSpPr>
          <p:cNvPr id="134" name="Google Shape;134;p8"/>
          <p:cNvSpPr/>
          <p:nvPr/>
        </p:nvSpPr>
        <p:spPr>
          <a:xfrm rot="10800000">
            <a:off x="6946842" y="4948334"/>
            <a:ext cx="394200" cy="131400"/>
          </a:xfrm>
          <a:prstGeom prst="triangle">
            <a:avLst>
              <a:gd name="adj" fmla="val 32425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5" name="Google Shape;135;p8"/>
          <p:cNvGrpSpPr/>
          <p:nvPr/>
        </p:nvGrpSpPr>
        <p:grpSpPr>
          <a:xfrm flipH="1">
            <a:off x="7106450" y="4472723"/>
            <a:ext cx="2040837" cy="670795"/>
            <a:chOff x="1297954" y="330075"/>
            <a:chExt cx="5169293" cy="1699506"/>
          </a:xfrm>
        </p:grpSpPr>
        <p:sp>
          <p:nvSpPr>
            <p:cNvPr id="136" name="Google Shape;136;p8"/>
            <p:cNvSpPr/>
            <p:nvPr/>
          </p:nvSpPr>
          <p:spPr>
            <a:xfrm>
              <a:off x="1297954" y="330081"/>
              <a:ext cx="3476700" cy="1699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8"/>
            <p:cNvSpPr/>
            <p:nvPr/>
          </p:nvSpPr>
          <p:spPr>
            <a:xfrm>
              <a:off x="4767747" y="330075"/>
              <a:ext cx="1699500" cy="16995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" name="Google Shape;138;p8"/>
          <p:cNvGrpSpPr/>
          <p:nvPr/>
        </p:nvGrpSpPr>
        <p:grpSpPr>
          <a:xfrm flipH="1">
            <a:off x="6949809" y="4646738"/>
            <a:ext cx="2199863" cy="304563"/>
            <a:chOff x="-5827153" y="330075"/>
            <a:chExt cx="12276019" cy="1699569"/>
          </a:xfrm>
          <a:solidFill>
            <a:srgbClr val="CC3300"/>
          </a:solidFill>
        </p:grpSpPr>
        <p:sp>
          <p:nvSpPr>
            <p:cNvPr id="139" name="Google Shape;139;p8"/>
            <p:cNvSpPr/>
            <p:nvPr/>
          </p:nvSpPr>
          <p:spPr>
            <a:xfrm>
              <a:off x="-5827153" y="330144"/>
              <a:ext cx="10612200" cy="16995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8"/>
            <p:cNvSpPr/>
            <p:nvPr/>
          </p:nvSpPr>
          <p:spPr>
            <a:xfrm>
              <a:off x="4749366" y="330075"/>
              <a:ext cx="1699500" cy="1699500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1" name="Google Shape;141;p8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8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30E9F97-5F61-479A-82BC-204ADE2E28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1945" t="39479" r="13090" b="40414"/>
          <a:stretch/>
        </p:blipFill>
        <p:spPr>
          <a:xfrm>
            <a:off x="7254359" y="0"/>
            <a:ext cx="1851041" cy="331409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2EB25521-2DF8-40D6-96DD-039A32CEFE9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4" y="4636500"/>
            <a:ext cx="670963" cy="4226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p10"/>
          <p:cNvGrpSpPr/>
          <p:nvPr/>
        </p:nvGrpSpPr>
        <p:grpSpPr>
          <a:xfrm rot="10800000">
            <a:off x="-8" y="-2"/>
            <a:ext cx="2202830" cy="670795"/>
            <a:chOff x="5575242" y="4472723"/>
            <a:chExt cx="2202830" cy="670795"/>
          </a:xfrm>
        </p:grpSpPr>
        <p:sp>
          <p:nvSpPr>
            <p:cNvPr id="164" name="Google Shape;164;p10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5" name="Google Shape;165;p10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166" name="Google Shape;166;p10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10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8" name="Google Shape;168;p10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169" name="Google Shape;169;p10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Google Shape;170;p10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72" name="Google Shape;172;p10"/>
          <p:cNvSpPr/>
          <p:nvPr/>
        </p:nvSpPr>
        <p:spPr>
          <a:xfrm rot="10800000">
            <a:off x="6946842" y="4948334"/>
            <a:ext cx="394200" cy="131400"/>
          </a:xfrm>
          <a:prstGeom prst="triangle">
            <a:avLst>
              <a:gd name="adj" fmla="val 32425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3" name="Google Shape;173;p10"/>
          <p:cNvGrpSpPr/>
          <p:nvPr/>
        </p:nvGrpSpPr>
        <p:grpSpPr>
          <a:xfrm flipH="1">
            <a:off x="7106450" y="4472723"/>
            <a:ext cx="2040837" cy="670795"/>
            <a:chOff x="1297954" y="330075"/>
            <a:chExt cx="5169293" cy="1699506"/>
          </a:xfrm>
        </p:grpSpPr>
        <p:sp>
          <p:nvSpPr>
            <p:cNvPr id="174" name="Google Shape;174;p10"/>
            <p:cNvSpPr/>
            <p:nvPr/>
          </p:nvSpPr>
          <p:spPr>
            <a:xfrm>
              <a:off x="1297954" y="330081"/>
              <a:ext cx="3476700" cy="1699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10"/>
            <p:cNvSpPr/>
            <p:nvPr/>
          </p:nvSpPr>
          <p:spPr>
            <a:xfrm>
              <a:off x="4767747" y="330075"/>
              <a:ext cx="1699500" cy="16995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6" name="Google Shape;176;p10"/>
          <p:cNvGrpSpPr/>
          <p:nvPr/>
        </p:nvGrpSpPr>
        <p:grpSpPr>
          <a:xfrm flipH="1">
            <a:off x="6949809" y="4646738"/>
            <a:ext cx="2199863" cy="304563"/>
            <a:chOff x="-5827153" y="330075"/>
            <a:chExt cx="12276019" cy="1699569"/>
          </a:xfrm>
          <a:solidFill>
            <a:srgbClr val="CC3300"/>
          </a:solidFill>
        </p:grpSpPr>
        <p:sp>
          <p:nvSpPr>
            <p:cNvPr id="177" name="Google Shape;177;p10"/>
            <p:cNvSpPr/>
            <p:nvPr/>
          </p:nvSpPr>
          <p:spPr>
            <a:xfrm>
              <a:off x="-5827153" y="330144"/>
              <a:ext cx="10612200" cy="16995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10"/>
            <p:cNvSpPr/>
            <p:nvPr/>
          </p:nvSpPr>
          <p:spPr>
            <a:xfrm>
              <a:off x="4749366" y="330075"/>
              <a:ext cx="1699500" cy="1699500"/>
            </a:xfrm>
            <a:prstGeom prst="rtTriangle">
              <a:avLst/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9" name="Google Shape;179;p10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1D8942CC-6B52-4121-A075-F6E0D12DCD1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644" y="4599895"/>
            <a:ext cx="661100" cy="416447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8354CB88-93DD-46E7-8A30-A3897ADD71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1945" t="39479" r="13090" b="40414"/>
          <a:stretch/>
        </p:blipFill>
        <p:spPr>
          <a:xfrm>
            <a:off x="7254359" y="0"/>
            <a:ext cx="1851041" cy="331409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4275" y="1327350"/>
            <a:ext cx="6132600" cy="3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▰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lvl="2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lvl="3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lvl="4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lvl="5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lvl="6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lvl="7" indent="-381000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lvl="8" indent="-381000">
              <a:spcBef>
                <a:spcPts val="1000"/>
              </a:spcBef>
              <a:spcAft>
                <a:spcPts val="100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r">
              <a:buNone/>
              <a:defRPr sz="1200" b="1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4" r:id="rId4"/>
    <p:sldLayoutId id="2147483656" r:id="rId5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 txBox="1">
            <a:spLocks noGrp="1"/>
          </p:cNvSpPr>
          <p:nvPr>
            <p:ph type="ctrTitle"/>
          </p:nvPr>
        </p:nvSpPr>
        <p:spPr>
          <a:xfrm>
            <a:off x="503087" y="1090800"/>
            <a:ext cx="8137826" cy="29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pt-BR" dirty="0"/>
            </a:br>
            <a:r>
              <a:rPr lang="pt-BR" dirty="0"/>
              <a:t> </a:t>
            </a:r>
            <a:r>
              <a:rPr lang="pt-BR" dirty="0" err="1"/>
              <a:t>BiblioETEC</a:t>
            </a:r>
            <a:endParaRPr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8A169E3-BC9A-4686-BDD1-ED74B6D5C4C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945" t="39479" r="13090" b="40414"/>
          <a:stretch/>
        </p:blipFill>
        <p:spPr>
          <a:xfrm>
            <a:off x="7254359" y="0"/>
            <a:ext cx="1851041" cy="331409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DB224C4F-6EA0-4C0D-9A6C-DF52382C29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212" y="53450"/>
            <a:ext cx="712989" cy="4491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43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INTEGRANTES DO GRUPO</a:t>
            </a:r>
            <a:endParaRPr dirty="0"/>
          </a:p>
        </p:txBody>
      </p:sp>
      <p:sp>
        <p:nvSpPr>
          <p:cNvPr id="744" name="Google Shape;744;p43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pic>
        <p:nvPicPr>
          <p:cNvPr id="745" name="Google Shape;745;p43"/>
          <p:cNvPicPr preferRelativeResize="0"/>
          <p:nvPr/>
        </p:nvPicPr>
        <p:blipFill rotWithShape="1">
          <a:blip r:embed="rId3">
            <a:alphaModFix/>
          </a:blip>
          <a:srcRect l="19633" t="9820" b="9812"/>
          <a:stretch/>
        </p:blipFill>
        <p:spPr>
          <a:xfrm>
            <a:off x="436381" y="1602080"/>
            <a:ext cx="1077409" cy="1080207"/>
          </a:xfrm>
          <a:prstGeom prst="ellipse">
            <a:avLst/>
          </a:prstGeom>
          <a:noFill/>
          <a:ln>
            <a:noFill/>
          </a:ln>
        </p:spPr>
      </p:pic>
      <p:sp>
        <p:nvSpPr>
          <p:cNvPr id="753" name="Google Shape;753;p43"/>
          <p:cNvSpPr/>
          <p:nvPr/>
        </p:nvSpPr>
        <p:spPr>
          <a:xfrm>
            <a:off x="315223" y="623918"/>
            <a:ext cx="303511" cy="303511"/>
          </a:xfrm>
          <a:custGeom>
            <a:avLst/>
            <a:gdLst/>
            <a:ahLst/>
            <a:cxnLst/>
            <a:rect l="l" t="t" r="r" b="b"/>
            <a:pathLst>
              <a:path w="16027" h="16027" fill="none" extrusionOk="0">
                <a:moveTo>
                  <a:pt x="14029" y="4019"/>
                </a:moveTo>
                <a:lnTo>
                  <a:pt x="14029" y="4019"/>
                </a:lnTo>
                <a:lnTo>
                  <a:pt x="14200" y="3849"/>
                </a:lnTo>
                <a:lnTo>
                  <a:pt x="14395" y="3752"/>
                </a:lnTo>
                <a:lnTo>
                  <a:pt x="14614" y="3678"/>
                </a:lnTo>
                <a:lnTo>
                  <a:pt x="14809" y="3630"/>
                </a:lnTo>
                <a:lnTo>
                  <a:pt x="15028" y="3581"/>
                </a:lnTo>
                <a:lnTo>
                  <a:pt x="15247" y="3484"/>
                </a:lnTo>
                <a:lnTo>
                  <a:pt x="15442" y="3362"/>
                </a:lnTo>
                <a:lnTo>
                  <a:pt x="15661" y="3191"/>
                </a:lnTo>
                <a:lnTo>
                  <a:pt x="15661" y="3191"/>
                </a:lnTo>
                <a:lnTo>
                  <a:pt x="15832" y="2997"/>
                </a:lnTo>
                <a:lnTo>
                  <a:pt x="15929" y="2777"/>
                </a:lnTo>
                <a:lnTo>
                  <a:pt x="16002" y="2534"/>
                </a:lnTo>
                <a:lnTo>
                  <a:pt x="16026" y="2266"/>
                </a:lnTo>
                <a:lnTo>
                  <a:pt x="16026" y="2266"/>
                </a:lnTo>
                <a:lnTo>
                  <a:pt x="16002" y="2047"/>
                </a:lnTo>
                <a:lnTo>
                  <a:pt x="15978" y="1827"/>
                </a:lnTo>
                <a:lnTo>
                  <a:pt x="15905" y="1633"/>
                </a:lnTo>
                <a:lnTo>
                  <a:pt x="15807" y="1413"/>
                </a:lnTo>
                <a:lnTo>
                  <a:pt x="15710" y="1243"/>
                </a:lnTo>
                <a:lnTo>
                  <a:pt x="15588" y="1048"/>
                </a:lnTo>
                <a:lnTo>
                  <a:pt x="15466" y="878"/>
                </a:lnTo>
                <a:lnTo>
                  <a:pt x="15320" y="707"/>
                </a:lnTo>
                <a:lnTo>
                  <a:pt x="15320" y="707"/>
                </a:lnTo>
                <a:lnTo>
                  <a:pt x="15150" y="561"/>
                </a:lnTo>
                <a:lnTo>
                  <a:pt x="14979" y="439"/>
                </a:lnTo>
                <a:lnTo>
                  <a:pt x="14784" y="317"/>
                </a:lnTo>
                <a:lnTo>
                  <a:pt x="14590" y="196"/>
                </a:lnTo>
                <a:lnTo>
                  <a:pt x="14395" y="123"/>
                </a:lnTo>
                <a:lnTo>
                  <a:pt x="14175" y="50"/>
                </a:lnTo>
                <a:lnTo>
                  <a:pt x="13981" y="25"/>
                </a:lnTo>
                <a:lnTo>
                  <a:pt x="13761" y="1"/>
                </a:lnTo>
                <a:lnTo>
                  <a:pt x="13761" y="1"/>
                </a:lnTo>
                <a:lnTo>
                  <a:pt x="13494" y="25"/>
                </a:lnTo>
                <a:lnTo>
                  <a:pt x="13250" y="98"/>
                </a:lnTo>
                <a:lnTo>
                  <a:pt x="13031" y="196"/>
                </a:lnTo>
                <a:lnTo>
                  <a:pt x="12836" y="366"/>
                </a:lnTo>
                <a:lnTo>
                  <a:pt x="12836" y="366"/>
                </a:lnTo>
                <a:lnTo>
                  <a:pt x="12665" y="561"/>
                </a:lnTo>
                <a:lnTo>
                  <a:pt x="12544" y="780"/>
                </a:lnTo>
                <a:lnTo>
                  <a:pt x="12471" y="975"/>
                </a:lnTo>
                <a:lnTo>
                  <a:pt x="12422" y="1194"/>
                </a:lnTo>
                <a:lnTo>
                  <a:pt x="12349" y="1413"/>
                </a:lnTo>
                <a:lnTo>
                  <a:pt x="12276" y="1608"/>
                </a:lnTo>
                <a:lnTo>
                  <a:pt x="12178" y="1827"/>
                </a:lnTo>
                <a:lnTo>
                  <a:pt x="12008" y="1998"/>
                </a:lnTo>
                <a:lnTo>
                  <a:pt x="12008" y="1998"/>
                </a:lnTo>
                <a:lnTo>
                  <a:pt x="11740" y="2266"/>
                </a:lnTo>
                <a:lnTo>
                  <a:pt x="11496" y="2436"/>
                </a:lnTo>
                <a:lnTo>
                  <a:pt x="11277" y="2534"/>
                </a:lnTo>
                <a:lnTo>
                  <a:pt x="11082" y="2582"/>
                </a:lnTo>
                <a:lnTo>
                  <a:pt x="10888" y="2582"/>
                </a:lnTo>
                <a:lnTo>
                  <a:pt x="10717" y="2534"/>
                </a:lnTo>
                <a:lnTo>
                  <a:pt x="10547" y="2412"/>
                </a:lnTo>
                <a:lnTo>
                  <a:pt x="10376" y="2290"/>
                </a:lnTo>
                <a:lnTo>
                  <a:pt x="10206" y="2095"/>
                </a:lnTo>
                <a:lnTo>
                  <a:pt x="10035" y="1901"/>
                </a:lnTo>
                <a:lnTo>
                  <a:pt x="9670" y="1413"/>
                </a:lnTo>
                <a:lnTo>
                  <a:pt x="9231" y="878"/>
                </a:lnTo>
                <a:lnTo>
                  <a:pt x="8988" y="585"/>
                </a:lnTo>
                <a:lnTo>
                  <a:pt x="8720" y="293"/>
                </a:lnTo>
                <a:lnTo>
                  <a:pt x="8720" y="293"/>
                </a:lnTo>
                <a:lnTo>
                  <a:pt x="8574" y="171"/>
                </a:lnTo>
                <a:lnTo>
                  <a:pt x="8379" y="74"/>
                </a:lnTo>
                <a:lnTo>
                  <a:pt x="8209" y="25"/>
                </a:lnTo>
                <a:lnTo>
                  <a:pt x="8014" y="1"/>
                </a:lnTo>
                <a:lnTo>
                  <a:pt x="8014" y="1"/>
                </a:lnTo>
                <a:lnTo>
                  <a:pt x="7916" y="25"/>
                </a:lnTo>
                <a:lnTo>
                  <a:pt x="7770" y="98"/>
                </a:lnTo>
                <a:lnTo>
                  <a:pt x="7307" y="366"/>
                </a:lnTo>
                <a:lnTo>
                  <a:pt x="7039" y="537"/>
                </a:lnTo>
                <a:lnTo>
                  <a:pt x="6747" y="756"/>
                </a:lnTo>
                <a:lnTo>
                  <a:pt x="6431" y="975"/>
                </a:lnTo>
                <a:lnTo>
                  <a:pt x="6138" y="1243"/>
                </a:lnTo>
                <a:lnTo>
                  <a:pt x="5870" y="1511"/>
                </a:lnTo>
                <a:lnTo>
                  <a:pt x="5627" y="1803"/>
                </a:lnTo>
                <a:lnTo>
                  <a:pt x="5432" y="2095"/>
                </a:lnTo>
                <a:lnTo>
                  <a:pt x="5359" y="2242"/>
                </a:lnTo>
                <a:lnTo>
                  <a:pt x="5310" y="2412"/>
                </a:lnTo>
                <a:lnTo>
                  <a:pt x="5262" y="2558"/>
                </a:lnTo>
                <a:lnTo>
                  <a:pt x="5237" y="2704"/>
                </a:lnTo>
                <a:lnTo>
                  <a:pt x="5237" y="2850"/>
                </a:lnTo>
                <a:lnTo>
                  <a:pt x="5262" y="3021"/>
                </a:lnTo>
                <a:lnTo>
                  <a:pt x="5310" y="3167"/>
                </a:lnTo>
                <a:lnTo>
                  <a:pt x="5383" y="3313"/>
                </a:lnTo>
                <a:lnTo>
                  <a:pt x="5481" y="3459"/>
                </a:lnTo>
                <a:lnTo>
                  <a:pt x="5603" y="3605"/>
                </a:lnTo>
                <a:lnTo>
                  <a:pt x="5603" y="3605"/>
                </a:lnTo>
                <a:lnTo>
                  <a:pt x="5797" y="3752"/>
                </a:lnTo>
                <a:lnTo>
                  <a:pt x="5992" y="3849"/>
                </a:lnTo>
                <a:lnTo>
                  <a:pt x="6187" y="3946"/>
                </a:lnTo>
                <a:lnTo>
                  <a:pt x="6406" y="3995"/>
                </a:lnTo>
                <a:lnTo>
                  <a:pt x="6625" y="4044"/>
                </a:lnTo>
                <a:lnTo>
                  <a:pt x="6845" y="4141"/>
                </a:lnTo>
                <a:lnTo>
                  <a:pt x="7039" y="4239"/>
                </a:lnTo>
                <a:lnTo>
                  <a:pt x="7234" y="4409"/>
                </a:lnTo>
                <a:lnTo>
                  <a:pt x="7234" y="4409"/>
                </a:lnTo>
                <a:lnTo>
                  <a:pt x="7405" y="4604"/>
                </a:lnTo>
                <a:lnTo>
                  <a:pt x="7502" y="4823"/>
                </a:lnTo>
                <a:lnTo>
                  <a:pt x="7575" y="5067"/>
                </a:lnTo>
                <a:lnTo>
                  <a:pt x="7600" y="5359"/>
                </a:lnTo>
                <a:lnTo>
                  <a:pt x="7600" y="5359"/>
                </a:lnTo>
                <a:lnTo>
                  <a:pt x="7575" y="5554"/>
                </a:lnTo>
                <a:lnTo>
                  <a:pt x="7551" y="5773"/>
                </a:lnTo>
                <a:lnTo>
                  <a:pt x="7478" y="5968"/>
                </a:lnTo>
                <a:lnTo>
                  <a:pt x="7405" y="6163"/>
                </a:lnTo>
                <a:lnTo>
                  <a:pt x="7307" y="6357"/>
                </a:lnTo>
                <a:lnTo>
                  <a:pt x="7186" y="6552"/>
                </a:lnTo>
                <a:lnTo>
                  <a:pt x="7039" y="6723"/>
                </a:lnTo>
                <a:lnTo>
                  <a:pt x="6893" y="6893"/>
                </a:lnTo>
                <a:lnTo>
                  <a:pt x="6893" y="6893"/>
                </a:lnTo>
                <a:lnTo>
                  <a:pt x="6723" y="7039"/>
                </a:lnTo>
                <a:lnTo>
                  <a:pt x="6552" y="7186"/>
                </a:lnTo>
                <a:lnTo>
                  <a:pt x="6382" y="7283"/>
                </a:lnTo>
                <a:lnTo>
                  <a:pt x="6187" y="7405"/>
                </a:lnTo>
                <a:lnTo>
                  <a:pt x="5992" y="7478"/>
                </a:lnTo>
                <a:lnTo>
                  <a:pt x="5773" y="7551"/>
                </a:lnTo>
                <a:lnTo>
                  <a:pt x="5554" y="7575"/>
                </a:lnTo>
                <a:lnTo>
                  <a:pt x="5359" y="7600"/>
                </a:lnTo>
                <a:lnTo>
                  <a:pt x="5359" y="7600"/>
                </a:lnTo>
                <a:lnTo>
                  <a:pt x="5091" y="7575"/>
                </a:lnTo>
                <a:lnTo>
                  <a:pt x="4848" y="7502"/>
                </a:lnTo>
                <a:lnTo>
                  <a:pt x="4604" y="7405"/>
                </a:lnTo>
                <a:lnTo>
                  <a:pt x="4409" y="7234"/>
                </a:lnTo>
                <a:lnTo>
                  <a:pt x="4409" y="7234"/>
                </a:lnTo>
                <a:lnTo>
                  <a:pt x="4239" y="7039"/>
                </a:lnTo>
                <a:lnTo>
                  <a:pt x="4117" y="6820"/>
                </a:lnTo>
                <a:lnTo>
                  <a:pt x="4044" y="6601"/>
                </a:lnTo>
                <a:lnTo>
                  <a:pt x="3971" y="6382"/>
                </a:lnTo>
                <a:lnTo>
                  <a:pt x="3922" y="6187"/>
                </a:lnTo>
                <a:lnTo>
                  <a:pt x="3849" y="5992"/>
                </a:lnTo>
                <a:lnTo>
                  <a:pt x="3752" y="5797"/>
                </a:lnTo>
                <a:lnTo>
                  <a:pt x="3605" y="5602"/>
                </a:lnTo>
                <a:lnTo>
                  <a:pt x="3605" y="5602"/>
                </a:lnTo>
                <a:lnTo>
                  <a:pt x="3459" y="5481"/>
                </a:lnTo>
                <a:lnTo>
                  <a:pt x="3313" y="5383"/>
                </a:lnTo>
                <a:lnTo>
                  <a:pt x="3167" y="5310"/>
                </a:lnTo>
                <a:lnTo>
                  <a:pt x="3021" y="5262"/>
                </a:lnTo>
                <a:lnTo>
                  <a:pt x="2850" y="5237"/>
                </a:lnTo>
                <a:lnTo>
                  <a:pt x="2704" y="5237"/>
                </a:lnTo>
                <a:lnTo>
                  <a:pt x="2558" y="5262"/>
                </a:lnTo>
                <a:lnTo>
                  <a:pt x="2412" y="5310"/>
                </a:lnTo>
                <a:lnTo>
                  <a:pt x="2242" y="5359"/>
                </a:lnTo>
                <a:lnTo>
                  <a:pt x="2095" y="5432"/>
                </a:lnTo>
                <a:lnTo>
                  <a:pt x="1803" y="5627"/>
                </a:lnTo>
                <a:lnTo>
                  <a:pt x="1511" y="5870"/>
                </a:lnTo>
                <a:lnTo>
                  <a:pt x="1243" y="6138"/>
                </a:lnTo>
                <a:lnTo>
                  <a:pt x="975" y="6431"/>
                </a:lnTo>
                <a:lnTo>
                  <a:pt x="756" y="6747"/>
                </a:lnTo>
                <a:lnTo>
                  <a:pt x="537" y="7039"/>
                </a:lnTo>
                <a:lnTo>
                  <a:pt x="366" y="7307"/>
                </a:lnTo>
                <a:lnTo>
                  <a:pt x="98" y="7770"/>
                </a:lnTo>
                <a:lnTo>
                  <a:pt x="25" y="7916"/>
                </a:lnTo>
                <a:lnTo>
                  <a:pt x="1" y="8014"/>
                </a:lnTo>
                <a:lnTo>
                  <a:pt x="1" y="8014"/>
                </a:lnTo>
                <a:lnTo>
                  <a:pt x="25" y="8208"/>
                </a:lnTo>
                <a:lnTo>
                  <a:pt x="74" y="8379"/>
                </a:lnTo>
                <a:lnTo>
                  <a:pt x="171" y="8574"/>
                </a:lnTo>
                <a:lnTo>
                  <a:pt x="293" y="8720"/>
                </a:lnTo>
                <a:lnTo>
                  <a:pt x="293" y="8720"/>
                </a:lnTo>
                <a:lnTo>
                  <a:pt x="585" y="8988"/>
                </a:lnTo>
                <a:lnTo>
                  <a:pt x="878" y="9231"/>
                </a:lnTo>
                <a:lnTo>
                  <a:pt x="1413" y="9670"/>
                </a:lnTo>
                <a:lnTo>
                  <a:pt x="1901" y="10035"/>
                </a:lnTo>
                <a:lnTo>
                  <a:pt x="2095" y="10206"/>
                </a:lnTo>
                <a:lnTo>
                  <a:pt x="2290" y="10376"/>
                </a:lnTo>
                <a:lnTo>
                  <a:pt x="2412" y="10547"/>
                </a:lnTo>
                <a:lnTo>
                  <a:pt x="2534" y="10717"/>
                </a:lnTo>
                <a:lnTo>
                  <a:pt x="2583" y="10888"/>
                </a:lnTo>
                <a:lnTo>
                  <a:pt x="2583" y="11082"/>
                </a:lnTo>
                <a:lnTo>
                  <a:pt x="2534" y="11277"/>
                </a:lnTo>
                <a:lnTo>
                  <a:pt x="2436" y="11496"/>
                </a:lnTo>
                <a:lnTo>
                  <a:pt x="2266" y="11740"/>
                </a:lnTo>
                <a:lnTo>
                  <a:pt x="1998" y="12008"/>
                </a:lnTo>
                <a:lnTo>
                  <a:pt x="1998" y="12008"/>
                </a:lnTo>
                <a:lnTo>
                  <a:pt x="1828" y="12178"/>
                </a:lnTo>
                <a:lnTo>
                  <a:pt x="1633" y="12276"/>
                </a:lnTo>
                <a:lnTo>
                  <a:pt x="1413" y="12349"/>
                </a:lnTo>
                <a:lnTo>
                  <a:pt x="1219" y="12398"/>
                </a:lnTo>
                <a:lnTo>
                  <a:pt x="999" y="12446"/>
                </a:lnTo>
                <a:lnTo>
                  <a:pt x="780" y="12544"/>
                </a:lnTo>
                <a:lnTo>
                  <a:pt x="585" y="12665"/>
                </a:lnTo>
                <a:lnTo>
                  <a:pt x="366" y="12836"/>
                </a:lnTo>
                <a:lnTo>
                  <a:pt x="366" y="12836"/>
                </a:lnTo>
                <a:lnTo>
                  <a:pt x="196" y="13031"/>
                </a:lnTo>
                <a:lnTo>
                  <a:pt x="98" y="13250"/>
                </a:lnTo>
                <a:lnTo>
                  <a:pt x="25" y="13493"/>
                </a:lnTo>
                <a:lnTo>
                  <a:pt x="1" y="13761"/>
                </a:lnTo>
                <a:lnTo>
                  <a:pt x="1" y="13761"/>
                </a:lnTo>
                <a:lnTo>
                  <a:pt x="25" y="13981"/>
                </a:lnTo>
                <a:lnTo>
                  <a:pt x="50" y="14200"/>
                </a:lnTo>
                <a:lnTo>
                  <a:pt x="123" y="14395"/>
                </a:lnTo>
                <a:lnTo>
                  <a:pt x="220" y="14614"/>
                </a:lnTo>
                <a:lnTo>
                  <a:pt x="318" y="14784"/>
                </a:lnTo>
                <a:lnTo>
                  <a:pt x="439" y="14979"/>
                </a:lnTo>
                <a:lnTo>
                  <a:pt x="561" y="15150"/>
                </a:lnTo>
                <a:lnTo>
                  <a:pt x="707" y="15320"/>
                </a:lnTo>
                <a:lnTo>
                  <a:pt x="707" y="15320"/>
                </a:lnTo>
                <a:lnTo>
                  <a:pt x="878" y="15466"/>
                </a:lnTo>
                <a:lnTo>
                  <a:pt x="1048" y="15588"/>
                </a:lnTo>
                <a:lnTo>
                  <a:pt x="1243" y="15710"/>
                </a:lnTo>
                <a:lnTo>
                  <a:pt x="1438" y="15832"/>
                </a:lnTo>
                <a:lnTo>
                  <a:pt x="1633" y="15905"/>
                </a:lnTo>
                <a:lnTo>
                  <a:pt x="1852" y="15978"/>
                </a:lnTo>
                <a:lnTo>
                  <a:pt x="2047" y="16002"/>
                </a:lnTo>
                <a:lnTo>
                  <a:pt x="2266" y="16026"/>
                </a:lnTo>
                <a:lnTo>
                  <a:pt x="2266" y="16026"/>
                </a:lnTo>
                <a:lnTo>
                  <a:pt x="2534" y="16002"/>
                </a:lnTo>
                <a:lnTo>
                  <a:pt x="2777" y="15929"/>
                </a:lnTo>
                <a:lnTo>
                  <a:pt x="2997" y="15832"/>
                </a:lnTo>
                <a:lnTo>
                  <a:pt x="3191" y="15661"/>
                </a:lnTo>
                <a:lnTo>
                  <a:pt x="3191" y="15661"/>
                </a:lnTo>
                <a:lnTo>
                  <a:pt x="3362" y="15466"/>
                </a:lnTo>
                <a:lnTo>
                  <a:pt x="3484" y="15247"/>
                </a:lnTo>
                <a:lnTo>
                  <a:pt x="3557" y="15052"/>
                </a:lnTo>
                <a:lnTo>
                  <a:pt x="3605" y="14833"/>
                </a:lnTo>
                <a:lnTo>
                  <a:pt x="3679" y="14614"/>
                </a:lnTo>
                <a:lnTo>
                  <a:pt x="3752" y="14419"/>
                </a:lnTo>
                <a:lnTo>
                  <a:pt x="3849" y="14200"/>
                </a:lnTo>
                <a:lnTo>
                  <a:pt x="4019" y="14029"/>
                </a:lnTo>
                <a:lnTo>
                  <a:pt x="4019" y="14029"/>
                </a:lnTo>
                <a:lnTo>
                  <a:pt x="4287" y="13786"/>
                </a:lnTo>
                <a:lnTo>
                  <a:pt x="4531" y="13591"/>
                </a:lnTo>
                <a:lnTo>
                  <a:pt x="4750" y="13493"/>
                </a:lnTo>
                <a:lnTo>
                  <a:pt x="4945" y="13445"/>
                </a:lnTo>
                <a:lnTo>
                  <a:pt x="5140" y="13445"/>
                </a:lnTo>
                <a:lnTo>
                  <a:pt x="5310" y="13493"/>
                </a:lnTo>
                <a:lnTo>
                  <a:pt x="5481" y="13615"/>
                </a:lnTo>
                <a:lnTo>
                  <a:pt x="5651" y="13737"/>
                </a:lnTo>
                <a:lnTo>
                  <a:pt x="5822" y="13932"/>
                </a:lnTo>
                <a:lnTo>
                  <a:pt x="5992" y="14127"/>
                </a:lnTo>
                <a:lnTo>
                  <a:pt x="6358" y="14614"/>
                </a:lnTo>
                <a:lnTo>
                  <a:pt x="6796" y="15150"/>
                </a:lnTo>
                <a:lnTo>
                  <a:pt x="7039" y="15442"/>
                </a:lnTo>
                <a:lnTo>
                  <a:pt x="7307" y="15734"/>
                </a:lnTo>
                <a:lnTo>
                  <a:pt x="7307" y="15734"/>
                </a:lnTo>
                <a:lnTo>
                  <a:pt x="7454" y="15856"/>
                </a:lnTo>
                <a:lnTo>
                  <a:pt x="7648" y="15953"/>
                </a:lnTo>
                <a:lnTo>
                  <a:pt x="7819" y="16002"/>
                </a:lnTo>
                <a:lnTo>
                  <a:pt x="8014" y="16026"/>
                </a:lnTo>
                <a:lnTo>
                  <a:pt x="8014" y="16026"/>
                </a:lnTo>
                <a:lnTo>
                  <a:pt x="8111" y="16002"/>
                </a:lnTo>
                <a:lnTo>
                  <a:pt x="8257" y="15929"/>
                </a:lnTo>
                <a:lnTo>
                  <a:pt x="8720" y="15661"/>
                </a:lnTo>
                <a:lnTo>
                  <a:pt x="8988" y="15491"/>
                </a:lnTo>
                <a:lnTo>
                  <a:pt x="9280" y="15271"/>
                </a:lnTo>
                <a:lnTo>
                  <a:pt x="9597" y="15052"/>
                </a:lnTo>
                <a:lnTo>
                  <a:pt x="9889" y="14784"/>
                </a:lnTo>
                <a:lnTo>
                  <a:pt x="10157" y="14516"/>
                </a:lnTo>
                <a:lnTo>
                  <a:pt x="10400" y="14224"/>
                </a:lnTo>
                <a:lnTo>
                  <a:pt x="10595" y="13932"/>
                </a:lnTo>
                <a:lnTo>
                  <a:pt x="10668" y="13786"/>
                </a:lnTo>
                <a:lnTo>
                  <a:pt x="10717" y="13615"/>
                </a:lnTo>
                <a:lnTo>
                  <a:pt x="10766" y="13469"/>
                </a:lnTo>
                <a:lnTo>
                  <a:pt x="10790" y="13323"/>
                </a:lnTo>
                <a:lnTo>
                  <a:pt x="10790" y="13177"/>
                </a:lnTo>
                <a:lnTo>
                  <a:pt x="10766" y="13006"/>
                </a:lnTo>
                <a:lnTo>
                  <a:pt x="10717" y="12860"/>
                </a:lnTo>
                <a:lnTo>
                  <a:pt x="10644" y="12714"/>
                </a:lnTo>
                <a:lnTo>
                  <a:pt x="10547" y="12568"/>
                </a:lnTo>
                <a:lnTo>
                  <a:pt x="10425" y="12422"/>
                </a:lnTo>
                <a:lnTo>
                  <a:pt x="10425" y="12422"/>
                </a:lnTo>
                <a:lnTo>
                  <a:pt x="10230" y="12276"/>
                </a:lnTo>
                <a:lnTo>
                  <a:pt x="10035" y="12178"/>
                </a:lnTo>
                <a:lnTo>
                  <a:pt x="9840" y="12105"/>
                </a:lnTo>
                <a:lnTo>
                  <a:pt x="9621" y="12032"/>
                </a:lnTo>
                <a:lnTo>
                  <a:pt x="9402" y="11983"/>
                </a:lnTo>
                <a:lnTo>
                  <a:pt x="9183" y="11886"/>
                </a:lnTo>
                <a:lnTo>
                  <a:pt x="8988" y="11789"/>
                </a:lnTo>
                <a:lnTo>
                  <a:pt x="8793" y="11618"/>
                </a:lnTo>
                <a:lnTo>
                  <a:pt x="8793" y="11618"/>
                </a:lnTo>
                <a:lnTo>
                  <a:pt x="8623" y="11423"/>
                </a:lnTo>
                <a:lnTo>
                  <a:pt x="8525" y="11204"/>
                </a:lnTo>
                <a:lnTo>
                  <a:pt x="8452" y="10961"/>
                </a:lnTo>
                <a:lnTo>
                  <a:pt x="8428" y="10668"/>
                </a:lnTo>
                <a:lnTo>
                  <a:pt x="8428" y="10668"/>
                </a:lnTo>
                <a:lnTo>
                  <a:pt x="8452" y="10473"/>
                </a:lnTo>
                <a:lnTo>
                  <a:pt x="8476" y="10254"/>
                </a:lnTo>
                <a:lnTo>
                  <a:pt x="8549" y="10059"/>
                </a:lnTo>
                <a:lnTo>
                  <a:pt x="8623" y="9865"/>
                </a:lnTo>
                <a:lnTo>
                  <a:pt x="8720" y="9670"/>
                </a:lnTo>
                <a:lnTo>
                  <a:pt x="8842" y="9475"/>
                </a:lnTo>
                <a:lnTo>
                  <a:pt x="8988" y="9304"/>
                </a:lnTo>
                <a:lnTo>
                  <a:pt x="9134" y="9134"/>
                </a:lnTo>
                <a:lnTo>
                  <a:pt x="9134" y="9134"/>
                </a:lnTo>
                <a:lnTo>
                  <a:pt x="9304" y="8988"/>
                </a:lnTo>
                <a:lnTo>
                  <a:pt x="9475" y="8866"/>
                </a:lnTo>
                <a:lnTo>
                  <a:pt x="9645" y="8744"/>
                </a:lnTo>
                <a:lnTo>
                  <a:pt x="9840" y="8622"/>
                </a:lnTo>
                <a:lnTo>
                  <a:pt x="10035" y="8549"/>
                </a:lnTo>
                <a:lnTo>
                  <a:pt x="10254" y="8476"/>
                </a:lnTo>
                <a:lnTo>
                  <a:pt x="10474" y="8452"/>
                </a:lnTo>
                <a:lnTo>
                  <a:pt x="10668" y="8428"/>
                </a:lnTo>
                <a:lnTo>
                  <a:pt x="10668" y="8428"/>
                </a:lnTo>
                <a:lnTo>
                  <a:pt x="10936" y="8452"/>
                </a:lnTo>
                <a:lnTo>
                  <a:pt x="11180" y="8525"/>
                </a:lnTo>
                <a:lnTo>
                  <a:pt x="11423" y="8622"/>
                </a:lnTo>
                <a:lnTo>
                  <a:pt x="11618" y="8793"/>
                </a:lnTo>
                <a:lnTo>
                  <a:pt x="11618" y="8793"/>
                </a:lnTo>
                <a:lnTo>
                  <a:pt x="11789" y="8988"/>
                </a:lnTo>
                <a:lnTo>
                  <a:pt x="11910" y="9207"/>
                </a:lnTo>
                <a:lnTo>
                  <a:pt x="11984" y="9426"/>
                </a:lnTo>
                <a:lnTo>
                  <a:pt x="12057" y="9645"/>
                </a:lnTo>
                <a:lnTo>
                  <a:pt x="12105" y="9840"/>
                </a:lnTo>
                <a:lnTo>
                  <a:pt x="12178" y="10035"/>
                </a:lnTo>
                <a:lnTo>
                  <a:pt x="12276" y="10230"/>
                </a:lnTo>
                <a:lnTo>
                  <a:pt x="12422" y="10425"/>
                </a:lnTo>
                <a:lnTo>
                  <a:pt x="12422" y="10425"/>
                </a:lnTo>
                <a:lnTo>
                  <a:pt x="12568" y="10547"/>
                </a:lnTo>
                <a:lnTo>
                  <a:pt x="12714" y="10644"/>
                </a:lnTo>
                <a:lnTo>
                  <a:pt x="12860" y="10717"/>
                </a:lnTo>
                <a:lnTo>
                  <a:pt x="13006" y="10766"/>
                </a:lnTo>
                <a:lnTo>
                  <a:pt x="13177" y="10790"/>
                </a:lnTo>
                <a:lnTo>
                  <a:pt x="13323" y="10790"/>
                </a:lnTo>
                <a:lnTo>
                  <a:pt x="13469" y="10766"/>
                </a:lnTo>
                <a:lnTo>
                  <a:pt x="13615" y="10717"/>
                </a:lnTo>
                <a:lnTo>
                  <a:pt x="13786" y="10668"/>
                </a:lnTo>
                <a:lnTo>
                  <a:pt x="13932" y="10595"/>
                </a:lnTo>
                <a:lnTo>
                  <a:pt x="14224" y="10400"/>
                </a:lnTo>
                <a:lnTo>
                  <a:pt x="14516" y="10157"/>
                </a:lnTo>
                <a:lnTo>
                  <a:pt x="14784" y="9889"/>
                </a:lnTo>
                <a:lnTo>
                  <a:pt x="15052" y="9597"/>
                </a:lnTo>
                <a:lnTo>
                  <a:pt x="15271" y="9280"/>
                </a:lnTo>
                <a:lnTo>
                  <a:pt x="15491" y="8988"/>
                </a:lnTo>
                <a:lnTo>
                  <a:pt x="15661" y="8720"/>
                </a:lnTo>
                <a:lnTo>
                  <a:pt x="15929" y="8257"/>
                </a:lnTo>
                <a:lnTo>
                  <a:pt x="16002" y="8111"/>
                </a:lnTo>
                <a:lnTo>
                  <a:pt x="16026" y="8014"/>
                </a:lnTo>
                <a:lnTo>
                  <a:pt x="16026" y="8014"/>
                </a:lnTo>
                <a:lnTo>
                  <a:pt x="16002" y="7819"/>
                </a:lnTo>
                <a:lnTo>
                  <a:pt x="15953" y="7648"/>
                </a:lnTo>
                <a:lnTo>
                  <a:pt x="15856" y="7453"/>
                </a:lnTo>
                <a:lnTo>
                  <a:pt x="15734" y="7307"/>
                </a:lnTo>
                <a:lnTo>
                  <a:pt x="15734" y="7307"/>
                </a:lnTo>
                <a:lnTo>
                  <a:pt x="15442" y="7039"/>
                </a:lnTo>
                <a:lnTo>
                  <a:pt x="15150" y="6796"/>
                </a:lnTo>
                <a:lnTo>
                  <a:pt x="14614" y="6357"/>
                </a:lnTo>
                <a:lnTo>
                  <a:pt x="14127" y="5992"/>
                </a:lnTo>
                <a:lnTo>
                  <a:pt x="13932" y="5822"/>
                </a:lnTo>
                <a:lnTo>
                  <a:pt x="13737" y="5651"/>
                </a:lnTo>
                <a:lnTo>
                  <a:pt x="13615" y="5481"/>
                </a:lnTo>
                <a:lnTo>
                  <a:pt x="13494" y="5310"/>
                </a:lnTo>
                <a:lnTo>
                  <a:pt x="13445" y="5140"/>
                </a:lnTo>
                <a:lnTo>
                  <a:pt x="13445" y="4945"/>
                </a:lnTo>
                <a:lnTo>
                  <a:pt x="13494" y="4750"/>
                </a:lnTo>
                <a:lnTo>
                  <a:pt x="13591" y="4531"/>
                </a:lnTo>
                <a:lnTo>
                  <a:pt x="13761" y="4287"/>
                </a:lnTo>
                <a:lnTo>
                  <a:pt x="14029" y="4019"/>
                </a:lnTo>
                <a:lnTo>
                  <a:pt x="14029" y="4019"/>
                </a:lnTo>
                <a:close/>
              </a:path>
            </a:pathLst>
          </a:custGeom>
          <a:noFill/>
          <a:ln w="12175" cap="rnd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746;p43">
            <a:extLst>
              <a:ext uri="{FF2B5EF4-FFF2-40B4-BE49-F238E27FC236}">
                <a16:creationId xmlns:a16="http://schemas.microsoft.com/office/drawing/2014/main" id="{81D690F2-4665-B952-37B6-BFEF142C83E5}"/>
              </a:ext>
            </a:extLst>
          </p:cNvPr>
          <p:cNvSpPr txBox="1"/>
          <p:nvPr/>
        </p:nvSpPr>
        <p:spPr>
          <a:xfrm>
            <a:off x="230485" y="2860254"/>
            <a:ext cx="1489200" cy="7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Marjorie Astolfi</a:t>
            </a:r>
            <a:br>
              <a:rPr lang="en" dirty="0">
                <a:latin typeface="Roboto Condensed"/>
                <a:ea typeface="Roboto Condensed"/>
                <a:cs typeface="Roboto Condensed"/>
                <a:sym typeface="Roboto Condensed"/>
              </a:rPr>
            </a:br>
            <a:endParaRPr dirty="0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4" name="Google Shape;745;p43">
            <a:extLst>
              <a:ext uri="{FF2B5EF4-FFF2-40B4-BE49-F238E27FC236}">
                <a16:creationId xmlns:a16="http://schemas.microsoft.com/office/drawing/2014/main" id="{1FE248F8-83DF-A7B8-A7AF-94131D00E27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9633" t="9820" b="9812"/>
          <a:stretch/>
        </p:blipFill>
        <p:spPr>
          <a:xfrm>
            <a:off x="2068193" y="1602079"/>
            <a:ext cx="1077409" cy="108020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" name="Google Shape;745;p43">
            <a:extLst>
              <a:ext uri="{FF2B5EF4-FFF2-40B4-BE49-F238E27FC236}">
                <a16:creationId xmlns:a16="http://schemas.microsoft.com/office/drawing/2014/main" id="{B5C97BEC-A97F-6C99-BC37-669A7822EC5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9633" t="9820" b="9812"/>
          <a:stretch/>
        </p:blipFill>
        <p:spPr>
          <a:xfrm>
            <a:off x="6963629" y="1602907"/>
            <a:ext cx="1077409" cy="108020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6" name="Google Shape;745;p43">
            <a:extLst>
              <a:ext uri="{FF2B5EF4-FFF2-40B4-BE49-F238E27FC236}">
                <a16:creationId xmlns:a16="http://schemas.microsoft.com/office/drawing/2014/main" id="{14D0A556-33AD-7B49-B312-8A23374F7AC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9633" t="9820" b="9812"/>
          <a:stretch/>
        </p:blipFill>
        <p:spPr>
          <a:xfrm>
            <a:off x="5331817" y="1602078"/>
            <a:ext cx="1077409" cy="108020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7" name="Google Shape;745;p43">
            <a:extLst>
              <a:ext uri="{FF2B5EF4-FFF2-40B4-BE49-F238E27FC236}">
                <a16:creationId xmlns:a16="http://schemas.microsoft.com/office/drawing/2014/main" id="{A50CAF24-8176-D1E9-572E-934BB0AF2F2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19633" t="9820" b="9812"/>
          <a:stretch/>
        </p:blipFill>
        <p:spPr>
          <a:xfrm>
            <a:off x="3700005" y="1602078"/>
            <a:ext cx="1077409" cy="1080207"/>
          </a:xfrm>
          <a:prstGeom prst="ellipse">
            <a:avLst/>
          </a:prstGeom>
          <a:noFill/>
          <a:ln>
            <a:noFill/>
          </a:ln>
        </p:spPr>
      </p:pic>
      <p:sp>
        <p:nvSpPr>
          <p:cNvPr id="8" name="Google Shape;746;p43">
            <a:extLst>
              <a:ext uri="{FF2B5EF4-FFF2-40B4-BE49-F238E27FC236}">
                <a16:creationId xmlns:a16="http://schemas.microsoft.com/office/drawing/2014/main" id="{E9276E4D-4385-1CA3-D187-62DD54DEA614}"/>
              </a:ext>
            </a:extLst>
          </p:cNvPr>
          <p:cNvSpPr txBox="1"/>
          <p:nvPr/>
        </p:nvSpPr>
        <p:spPr>
          <a:xfrm>
            <a:off x="1862297" y="2860254"/>
            <a:ext cx="1489200" cy="7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Matheus Passos</a:t>
            </a:r>
            <a:br>
              <a:rPr lang="en" dirty="0">
                <a:latin typeface="Roboto Condensed"/>
                <a:ea typeface="Roboto Condensed"/>
                <a:cs typeface="Roboto Condensed"/>
                <a:sym typeface="Roboto Condensed"/>
              </a:rPr>
            </a:br>
            <a:endParaRPr dirty="0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9" name="Google Shape;746;p43">
            <a:extLst>
              <a:ext uri="{FF2B5EF4-FFF2-40B4-BE49-F238E27FC236}">
                <a16:creationId xmlns:a16="http://schemas.microsoft.com/office/drawing/2014/main" id="{D96DFE62-2BE9-DF2F-37DC-D88DF1389913}"/>
              </a:ext>
            </a:extLst>
          </p:cNvPr>
          <p:cNvSpPr txBox="1"/>
          <p:nvPr/>
        </p:nvSpPr>
        <p:spPr>
          <a:xfrm>
            <a:off x="3494109" y="2860254"/>
            <a:ext cx="1489200" cy="7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" dirty="0">
                <a:latin typeface="Roboto Condensed"/>
                <a:ea typeface="Roboto Condensed"/>
                <a:cs typeface="Roboto Condensed"/>
                <a:sym typeface="Roboto Condensed"/>
              </a:rPr>
            </a:br>
            <a:endParaRPr dirty="0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0" name="Google Shape;746;p43">
            <a:extLst>
              <a:ext uri="{FF2B5EF4-FFF2-40B4-BE49-F238E27FC236}">
                <a16:creationId xmlns:a16="http://schemas.microsoft.com/office/drawing/2014/main" id="{71E260D1-0FC6-1793-97F5-C7C3220D678B}"/>
              </a:ext>
            </a:extLst>
          </p:cNvPr>
          <p:cNvSpPr txBox="1"/>
          <p:nvPr/>
        </p:nvSpPr>
        <p:spPr>
          <a:xfrm>
            <a:off x="5125921" y="2860254"/>
            <a:ext cx="1489200" cy="7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Rafael Botacini</a:t>
            </a:r>
            <a:br>
              <a:rPr lang="en" dirty="0">
                <a:latin typeface="Roboto Condensed"/>
                <a:ea typeface="Roboto Condensed"/>
                <a:cs typeface="Roboto Condensed"/>
                <a:sym typeface="Roboto Condensed"/>
              </a:rPr>
            </a:br>
            <a:endParaRPr dirty="0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1" name="Google Shape;746;p43">
            <a:extLst>
              <a:ext uri="{FF2B5EF4-FFF2-40B4-BE49-F238E27FC236}">
                <a16:creationId xmlns:a16="http://schemas.microsoft.com/office/drawing/2014/main" id="{1E010624-2363-A647-1503-B01ED7C2563A}"/>
              </a:ext>
            </a:extLst>
          </p:cNvPr>
          <p:cNvSpPr txBox="1"/>
          <p:nvPr/>
        </p:nvSpPr>
        <p:spPr>
          <a:xfrm>
            <a:off x="6757733" y="2860254"/>
            <a:ext cx="1489200" cy="7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Renan Azarias</a:t>
            </a:r>
            <a:br>
              <a:rPr lang="en" dirty="0">
                <a:latin typeface="Roboto Condensed"/>
                <a:ea typeface="Roboto Condensed"/>
                <a:cs typeface="Roboto Condensed"/>
                <a:sym typeface="Roboto Condensed"/>
              </a:rPr>
            </a:br>
            <a:endParaRPr dirty="0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" name="Google Shape;746;p43">
            <a:extLst>
              <a:ext uri="{FF2B5EF4-FFF2-40B4-BE49-F238E27FC236}">
                <a16:creationId xmlns:a16="http://schemas.microsoft.com/office/drawing/2014/main" id="{DB428CB3-EB8A-6F91-5D6B-1A9BEE8EFC1F}"/>
              </a:ext>
            </a:extLst>
          </p:cNvPr>
          <p:cNvSpPr txBox="1"/>
          <p:nvPr/>
        </p:nvSpPr>
        <p:spPr>
          <a:xfrm>
            <a:off x="3494109" y="2860254"/>
            <a:ext cx="1489200" cy="7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Miguel da Rocha</a:t>
            </a:r>
            <a:br>
              <a:rPr lang="en" dirty="0">
                <a:latin typeface="Roboto Condensed"/>
                <a:ea typeface="Roboto Condensed"/>
                <a:cs typeface="Roboto Condensed"/>
                <a:sym typeface="Roboto Condensed"/>
              </a:rPr>
            </a:br>
            <a:endParaRPr dirty="0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6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PROBLEMA DE PESQUISA</a:t>
            </a:r>
            <a:endParaRPr dirty="0"/>
          </a:p>
        </p:txBody>
      </p:sp>
      <p:sp>
        <p:nvSpPr>
          <p:cNvPr id="237" name="Google Shape;237;p16"/>
          <p:cNvSpPr txBox="1">
            <a:spLocks noGrp="1"/>
          </p:cNvSpPr>
          <p:nvPr>
            <p:ph type="body" idx="1"/>
          </p:nvPr>
        </p:nvSpPr>
        <p:spPr>
          <a:xfrm>
            <a:off x="148644" y="1193593"/>
            <a:ext cx="7933037" cy="314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▰"/>
            </a:pPr>
            <a:r>
              <a:rPr lang="pt-BR" sz="1200" dirty="0"/>
              <a:t>A escola não possui um sistema próprio para gerenciar livros.</a:t>
            </a:r>
            <a:r>
              <a:rPr lang="en-US" sz="1200" dirty="0"/>
              <a:t> </a:t>
            </a: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▰"/>
            </a:pPr>
            <a:r>
              <a:rPr lang="pt-BR" sz="1200" dirty="0"/>
              <a:t>O controle atual é feito de forma manual.</a:t>
            </a: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▰"/>
            </a:pPr>
            <a:r>
              <a:rPr lang="pt-BR" sz="1200" dirty="0"/>
              <a:t>Isso causa atrasos em empréstimos, devoluções e reservas.</a:t>
            </a: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▰"/>
            </a:pPr>
            <a:r>
              <a:rPr lang="pt-BR" sz="1200" dirty="0"/>
              <a:t>Dificuldade para alunos e funcionários localizarem livros disponíveis.</a:t>
            </a: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▰"/>
            </a:pPr>
            <a:endParaRPr sz="2000" dirty="0"/>
          </a:p>
        </p:txBody>
      </p:sp>
      <p:sp>
        <p:nvSpPr>
          <p:cNvPr id="238" name="Google Shape;238;p16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grpSp>
        <p:nvGrpSpPr>
          <p:cNvPr id="239" name="Google Shape;239;p16"/>
          <p:cNvGrpSpPr/>
          <p:nvPr/>
        </p:nvGrpSpPr>
        <p:grpSpPr>
          <a:xfrm>
            <a:off x="282216" y="590918"/>
            <a:ext cx="369505" cy="369505"/>
            <a:chOff x="2594050" y="1631825"/>
            <a:chExt cx="439625" cy="439625"/>
          </a:xfrm>
        </p:grpSpPr>
        <p:sp>
          <p:nvSpPr>
            <p:cNvPr id="240" name="Google Shape;240;p16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6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16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6"/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6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JUSTIFICATIVA </a:t>
            </a:r>
            <a:endParaRPr dirty="0"/>
          </a:p>
        </p:txBody>
      </p:sp>
      <p:sp>
        <p:nvSpPr>
          <p:cNvPr id="237" name="Google Shape;237;p16"/>
          <p:cNvSpPr txBox="1">
            <a:spLocks noGrp="1"/>
          </p:cNvSpPr>
          <p:nvPr>
            <p:ph type="body" idx="1"/>
          </p:nvPr>
        </p:nvSpPr>
        <p:spPr>
          <a:xfrm>
            <a:off x="298153" y="1195717"/>
            <a:ext cx="6132600" cy="314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▰"/>
            </a:pPr>
            <a:r>
              <a:rPr lang="pt-BR" sz="1200" dirty="0"/>
              <a:t>Melhora a organização e o controle dos livros da escola.</a:t>
            </a: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▰"/>
            </a:pPr>
            <a:r>
              <a:rPr lang="pt-BR" sz="1200" dirty="0"/>
              <a:t>Facilita o acesso de alunos e professores ao acervo. </a:t>
            </a: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▰"/>
            </a:pPr>
            <a:r>
              <a:rPr lang="pt-BR" sz="1200" dirty="0"/>
              <a:t>Reduz erros e perda de informações.</a:t>
            </a: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▰"/>
            </a:pPr>
            <a:r>
              <a:rPr lang="pt-BR" sz="1200" dirty="0"/>
              <a:t>Torna o processo de empréstimo e devolução mais rápido.</a:t>
            </a: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▰"/>
            </a:pPr>
            <a:r>
              <a:rPr lang="pt-BR" sz="1200" dirty="0"/>
              <a:t>Contribui para a modernização da gestão escolar.</a:t>
            </a:r>
          </a:p>
        </p:txBody>
      </p:sp>
      <p:sp>
        <p:nvSpPr>
          <p:cNvPr id="238" name="Google Shape;238;p16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grpSp>
        <p:nvGrpSpPr>
          <p:cNvPr id="239" name="Google Shape;239;p16"/>
          <p:cNvGrpSpPr/>
          <p:nvPr/>
        </p:nvGrpSpPr>
        <p:grpSpPr>
          <a:xfrm>
            <a:off x="282216" y="590918"/>
            <a:ext cx="369505" cy="369505"/>
            <a:chOff x="2594050" y="1631825"/>
            <a:chExt cx="439625" cy="439625"/>
          </a:xfrm>
        </p:grpSpPr>
        <p:sp>
          <p:nvSpPr>
            <p:cNvPr id="240" name="Google Shape;240;p16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6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16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6"/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205864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OBJETIVOS</a:t>
            </a:r>
            <a:endParaRPr dirty="0"/>
          </a:p>
        </p:txBody>
      </p:sp>
      <p:sp>
        <p:nvSpPr>
          <p:cNvPr id="237" name="Google Shape;237;p16"/>
          <p:cNvSpPr txBox="1">
            <a:spLocks noGrp="1"/>
          </p:cNvSpPr>
          <p:nvPr>
            <p:ph type="body" idx="1"/>
          </p:nvPr>
        </p:nvSpPr>
        <p:spPr>
          <a:xfrm>
            <a:off x="199089" y="1178124"/>
            <a:ext cx="7464883" cy="128784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pt-BR" sz="1200" b="1" dirty="0"/>
              <a:t>Objetivo Geral</a:t>
            </a:r>
          </a:p>
          <a:p>
            <a:pPr lvl="1"/>
            <a:r>
              <a:rPr lang="pt-BR" sz="1200" dirty="0"/>
              <a:t>Desenvolver um sistema de biblioteca online para facilitar o gerenciamento de livros, empréstimos e devoluções na </a:t>
            </a:r>
            <a:r>
              <a:rPr lang="pt-BR" sz="1200" dirty="0" err="1"/>
              <a:t>Etec</a:t>
            </a:r>
            <a:r>
              <a:rPr lang="pt-BR" sz="1200" dirty="0"/>
              <a:t>, tornando o processo mais rápido, seguro e acessível.</a:t>
            </a:r>
            <a:endParaRPr sz="1200" dirty="0"/>
          </a:p>
        </p:txBody>
      </p:sp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8B671F63-F5F5-4822-BCDD-32D79FDCDFD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99089" y="2273372"/>
            <a:ext cx="6636747" cy="1922863"/>
          </a:xfrm>
        </p:spPr>
        <p:txBody>
          <a:bodyPr/>
          <a:lstStyle/>
          <a:p>
            <a:r>
              <a:rPr lang="pt-BR" sz="1200" b="1" dirty="0"/>
              <a:t>Objetivos Específicos</a:t>
            </a:r>
          </a:p>
          <a:p>
            <a:pPr lvl="1"/>
            <a:r>
              <a:rPr lang="pt-BR" sz="1200" dirty="0"/>
              <a:t>Criar um sistema que permita o cadastro e controle de livros e usuários.</a:t>
            </a:r>
          </a:p>
          <a:p>
            <a:pPr lvl="1"/>
            <a:r>
              <a:rPr lang="pt-BR" sz="1200" dirty="0"/>
              <a:t>Implementar funções de empréstimo, devolução e reserva de obras.</a:t>
            </a:r>
          </a:p>
          <a:p>
            <a:pPr lvl="1"/>
            <a:r>
              <a:rPr lang="pt-BR" sz="1200" dirty="0"/>
              <a:t>Disponibilizar consultas de disponibilidade de livros em tempo real.</a:t>
            </a:r>
          </a:p>
          <a:p>
            <a:pPr lvl="1"/>
            <a:r>
              <a:rPr lang="pt-BR" sz="1200" dirty="0"/>
              <a:t>Garantir uma interface simples e intuitiva para alunos e funcionários.</a:t>
            </a:r>
          </a:p>
          <a:p>
            <a:pPr lvl="1"/>
            <a:r>
              <a:rPr lang="pt-BR" sz="1200" dirty="0"/>
              <a:t>Otimizar o trabalho da equipe da biblioteca e reduzir erros manuais.</a:t>
            </a:r>
          </a:p>
        </p:txBody>
      </p:sp>
      <p:sp>
        <p:nvSpPr>
          <p:cNvPr id="238" name="Google Shape;238;p1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grpSp>
        <p:nvGrpSpPr>
          <p:cNvPr id="239" name="Google Shape;239;p16"/>
          <p:cNvGrpSpPr/>
          <p:nvPr/>
        </p:nvGrpSpPr>
        <p:grpSpPr>
          <a:xfrm>
            <a:off x="282216" y="590918"/>
            <a:ext cx="369505" cy="369505"/>
            <a:chOff x="2594050" y="1631825"/>
            <a:chExt cx="439625" cy="439625"/>
          </a:xfrm>
        </p:grpSpPr>
        <p:sp>
          <p:nvSpPr>
            <p:cNvPr id="240" name="Google Shape;240;p16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6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16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6"/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5075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6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METODOLOGIA</a:t>
            </a:r>
            <a:endParaRPr dirty="0"/>
          </a:p>
        </p:txBody>
      </p:sp>
      <p:sp>
        <p:nvSpPr>
          <p:cNvPr id="237" name="Google Shape;237;p16"/>
          <p:cNvSpPr txBox="1">
            <a:spLocks noGrp="1"/>
          </p:cNvSpPr>
          <p:nvPr>
            <p:ph type="body" idx="1"/>
          </p:nvPr>
        </p:nvSpPr>
        <p:spPr>
          <a:xfrm>
            <a:off x="282216" y="1158775"/>
            <a:ext cx="6132600" cy="314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▰"/>
            </a:pPr>
            <a:r>
              <a:rPr lang="pt-BR" sz="1200" dirty="0"/>
              <a:t>Pesquisa sobre as necessidades da biblioteca da escola.</a:t>
            </a: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▰"/>
            </a:pPr>
            <a:r>
              <a:rPr lang="pt-BR" sz="1200" dirty="0"/>
              <a:t>Definição dos requisitos do sistema.</a:t>
            </a: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▰"/>
            </a:pPr>
            <a:r>
              <a:rPr lang="pt-BR" sz="1200" dirty="0"/>
              <a:t>Criação do protótipo e do banco de dados.</a:t>
            </a: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▰"/>
            </a:pPr>
            <a:r>
              <a:rPr lang="pt-BR" sz="1200" dirty="0"/>
              <a:t>Desenvolvimento utilizando HTML, CSS, </a:t>
            </a:r>
            <a:r>
              <a:rPr lang="pt-BR" sz="1200" dirty="0" err="1"/>
              <a:t>JavaScript</a:t>
            </a:r>
            <a:r>
              <a:rPr lang="pt-BR" sz="1200" dirty="0"/>
              <a:t>, PHP e MySQL.</a:t>
            </a: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▰"/>
            </a:pPr>
            <a:r>
              <a:rPr lang="pt-BR" sz="1200" dirty="0"/>
              <a:t>Testes de funcionamento e correção de erros.</a:t>
            </a: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▰"/>
            </a:pPr>
            <a:r>
              <a:rPr lang="pt-BR" sz="1200" dirty="0"/>
              <a:t>Apresentação e validação do sistema pelos usuários.</a:t>
            </a:r>
            <a:endParaRPr sz="1200" dirty="0"/>
          </a:p>
        </p:txBody>
      </p:sp>
      <p:sp>
        <p:nvSpPr>
          <p:cNvPr id="238" name="Google Shape;238;p16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grpSp>
        <p:nvGrpSpPr>
          <p:cNvPr id="239" name="Google Shape;239;p16"/>
          <p:cNvGrpSpPr/>
          <p:nvPr/>
        </p:nvGrpSpPr>
        <p:grpSpPr>
          <a:xfrm>
            <a:off x="282216" y="590918"/>
            <a:ext cx="369505" cy="369505"/>
            <a:chOff x="2594050" y="1631825"/>
            <a:chExt cx="439625" cy="439625"/>
          </a:xfrm>
        </p:grpSpPr>
        <p:sp>
          <p:nvSpPr>
            <p:cNvPr id="240" name="Google Shape;240;p16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6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16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6"/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797973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6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TRABALHOS RELACIONADOS</a:t>
            </a:r>
            <a:endParaRPr dirty="0"/>
          </a:p>
        </p:txBody>
      </p:sp>
      <p:sp>
        <p:nvSpPr>
          <p:cNvPr id="237" name="Google Shape;237;p16"/>
          <p:cNvSpPr txBox="1">
            <a:spLocks noGrp="1"/>
          </p:cNvSpPr>
          <p:nvPr>
            <p:ph type="body" idx="1"/>
          </p:nvPr>
        </p:nvSpPr>
        <p:spPr>
          <a:xfrm>
            <a:off x="340042" y="1315467"/>
            <a:ext cx="6132600" cy="314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▰"/>
            </a:pPr>
            <a:r>
              <a:rPr lang="pt-BR" sz="1200" b="1" dirty="0" err="1"/>
              <a:t>Pergamum</a:t>
            </a:r>
            <a:r>
              <a:rPr lang="pt-BR" sz="1200" dirty="0"/>
              <a:t> – Sistema de gestão de bibliotecas amplamente usado em instituições de ensino, com funções de empréstimo, devolução e reservas.</a:t>
            </a:r>
            <a:r>
              <a:rPr lang="en-US" sz="1200" dirty="0"/>
              <a:t> </a:t>
            </a: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▰"/>
            </a:pPr>
            <a:r>
              <a:rPr lang="pt-BR" sz="1200" b="1" dirty="0" err="1"/>
              <a:t>SophiA</a:t>
            </a:r>
            <a:r>
              <a:rPr lang="pt-BR" sz="1200" b="1" dirty="0"/>
              <a:t> Biblioteca</a:t>
            </a:r>
            <a:r>
              <a:rPr lang="pt-BR" sz="1200" dirty="0"/>
              <a:t> – Plataforma digital para controle de acervos, histórico de usuários e emissão de relatórios.</a:t>
            </a: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▰"/>
            </a:pPr>
            <a:r>
              <a:rPr lang="pt-BR" sz="1200" b="1" dirty="0" err="1"/>
              <a:t>Biblivre</a:t>
            </a:r>
            <a:r>
              <a:rPr lang="pt-BR" sz="1200" dirty="0"/>
              <a:t> – Sistema gratuito e de código aberto que permite o gerenciamento completo de bibliotecas físicas e virtuais.</a:t>
            </a: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▰"/>
            </a:pPr>
            <a:endParaRPr lang="pt-BR" sz="1200" dirty="0"/>
          </a:p>
          <a:p>
            <a:pPr marL="76200" lvl="0" indent="0" algn="l" rtl="0"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pt-BR" sz="1200" dirty="0"/>
              <a:t>O </a:t>
            </a:r>
            <a:r>
              <a:rPr lang="pt-BR" sz="1200" dirty="0" err="1"/>
              <a:t>BiblioEtec</a:t>
            </a:r>
            <a:r>
              <a:rPr lang="pt-BR" sz="1200" dirty="0"/>
              <a:t> se destaca por ser personalizado para a realidade escolar, com interface simples, integração com o login dos alunos e foco em facilitar o empréstimo e devolução dentro da escola.</a:t>
            </a:r>
            <a:endParaRPr lang="en-US" sz="1200" dirty="0"/>
          </a:p>
        </p:txBody>
      </p:sp>
      <p:sp>
        <p:nvSpPr>
          <p:cNvPr id="238" name="Google Shape;238;p16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grpSp>
        <p:nvGrpSpPr>
          <p:cNvPr id="239" name="Google Shape;239;p16"/>
          <p:cNvGrpSpPr/>
          <p:nvPr/>
        </p:nvGrpSpPr>
        <p:grpSpPr>
          <a:xfrm>
            <a:off x="282216" y="590918"/>
            <a:ext cx="369505" cy="369505"/>
            <a:chOff x="2594050" y="1631825"/>
            <a:chExt cx="439625" cy="439625"/>
          </a:xfrm>
        </p:grpSpPr>
        <p:sp>
          <p:nvSpPr>
            <p:cNvPr id="240" name="Google Shape;240;p16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6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16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6"/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0370867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6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ANÁLISE DE SIMILARES</a:t>
            </a:r>
            <a:endParaRPr dirty="0"/>
          </a:p>
        </p:txBody>
      </p:sp>
      <p:sp>
        <p:nvSpPr>
          <p:cNvPr id="237" name="Google Shape;237;p16"/>
          <p:cNvSpPr txBox="1">
            <a:spLocks noGrp="1"/>
          </p:cNvSpPr>
          <p:nvPr>
            <p:ph type="body" idx="1"/>
          </p:nvPr>
        </p:nvSpPr>
        <p:spPr>
          <a:xfrm>
            <a:off x="814275" y="1327350"/>
            <a:ext cx="6132600" cy="314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▰"/>
            </a:pPr>
            <a:r>
              <a:rPr lang="en" dirty="0"/>
              <a:t>Here you have a list of items</a:t>
            </a: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▰"/>
            </a:pPr>
            <a:r>
              <a:rPr lang="en" dirty="0"/>
              <a:t>And some text</a:t>
            </a:r>
            <a:endParaRPr dirty="0"/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▰"/>
            </a:pPr>
            <a:r>
              <a:rPr lang="en" dirty="0"/>
              <a:t>But remember not to overload your slides with content</a:t>
            </a: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" dirty="0"/>
              <a:t>Your audience will listen to you or read the content, but </a:t>
            </a:r>
            <a:r>
              <a:rPr lang="en" dirty="0">
                <a:highlight>
                  <a:srgbClr val="C7D3E6"/>
                </a:highlight>
              </a:rPr>
              <a:t>won’t do both</a:t>
            </a:r>
            <a:r>
              <a:rPr lang="en" dirty="0"/>
              <a:t>. </a:t>
            </a:r>
            <a:endParaRPr dirty="0"/>
          </a:p>
        </p:txBody>
      </p:sp>
      <p:sp>
        <p:nvSpPr>
          <p:cNvPr id="238" name="Google Shape;238;p16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grpSp>
        <p:nvGrpSpPr>
          <p:cNvPr id="239" name="Google Shape;239;p16"/>
          <p:cNvGrpSpPr/>
          <p:nvPr/>
        </p:nvGrpSpPr>
        <p:grpSpPr>
          <a:xfrm>
            <a:off x="282216" y="590918"/>
            <a:ext cx="369505" cy="369505"/>
            <a:chOff x="2594050" y="1631825"/>
            <a:chExt cx="439625" cy="439625"/>
          </a:xfrm>
        </p:grpSpPr>
        <p:sp>
          <p:nvSpPr>
            <p:cNvPr id="240" name="Google Shape;240;p16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6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16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6"/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9718897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55B9D9-D4C2-4064-95CB-32A357AFB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FERRAMENTAS UTILIZADAS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7036460-3187-4DF8-B461-56853234FC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9932" y="1754141"/>
            <a:ext cx="4540157" cy="3145500"/>
          </a:xfrm>
        </p:spPr>
        <p:txBody>
          <a:bodyPr/>
          <a:lstStyle/>
          <a:p>
            <a:r>
              <a:rPr lang="pt-BR" sz="1200" b="1" dirty="0"/>
              <a:t>Linguagem de Programação (</a:t>
            </a:r>
            <a:r>
              <a:rPr lang="pt-BR" sz="1200" b="1" dirty="0" err="1"/>
              <a:t>Backend</a:t>
            </a:r>
            <a:r>
              <a:rPr lang="pt-BR" sz="1200" b="1" dirty="0"/>
              <a:t>):</a:t>
            </a:r>
            <a:endParaRPr lang="pt-BR" sz="1200" dirty="0"/>
          </a:p>
          <a:p>
            <a:pPr marL="76200" indent="0">
              <a:buNone/>
            </a:pPr>
            <a:r>
              <a:rPr lang="pt-BR" sz="1200" dirty="0"/>
              <a:t>         	PHP 8 (Para toda a lógica do servidor, cadastro de livros e 	regras de empréstimo).</a:t>
            </a:r>
          </a:p>
          <a:p>
            <a:r>
              <a:rPr lang="pt-BR" sz="1200" b="1" dirty="0"/>
              <a:t>Banco de Dados:</a:t>
            </a:r>
            <a:endParaRPr lang="pt-BR" sz="1200" dirty="0"/>
          </a:p>
          <a:p>
            <a:pPr marL="76200" indent="0">
              <a:buNone/>
            </a:pPr>
            <a:r>
              <a:rPr lang="pt-BR" sz="1200" dirty="0"/>
              <a:t>	MySQL (Para armazenamento dos dados dos livros, 	usuários, empréstimos e reservas).</a:t>
            </a:r>
          </a:p>
          <a:p>
            <a:r>
              <a:rPr lang="pt-BR" sz="1200" b="1" dirty="0"/>
              <a:t>Desenvolvimento (</a:t>
            </a:r>
            <a:r>
              <a:rPr lang="pt-BR" sz="1200" b="1" dirty="0" err="1"/>
              <a:t>Frontend</a:t>
            </a:r>
            <a:r>
              <a:rPr lang="pt-BR" sz="1200" b="1" dirty="0"/>
              <a:t>):</a:t>
            </a:r>
            <a:endParaRPr lang="pt-BR" sz="1200" dirty="0"/>
          </a:p>
          <a:p>
            <a:pPr marL="76200" indent="0">
              <a:buNone/>
            </a:pPr>
            <a:r>
              <a:rPr lang="pt-BR" sz="1200" dirty="0"/>
              <a:t>	HTML5 (Estruturação semântica das páginas).</a:t>
            </a:r>
          </a:p>
          <a:p>
            <a:pPr marL="76200" indent="0">
              <a:buNone/>
            </a:pPr>
            <a:r>
              <a:rPr lang="pt-BR" sz="1200" dirty="0"/>
              <a:t>	CSS3 (Estilização e design do sistema).</a:t>
            </a:r>
          </a:p>
          <a:p>
            <a:pPr marL="76200" indent="0">
              <a:buNone/>
            </a:pPr>
            <a:r>
              <a:rPr lang="pt-BR" sz="1200" dirty="0"/>
              <a:t>	</a:t>
            </a:r>
            <a:r>
              <a:rPr lang="pt-BR" sz="1200" dirty="0" err="1"/>
              <a:t>JavaScript</a:t>
            </a:r>
            <a:r>
              <a:rPr lang="pt-BR" sz="1200" dirty="0"/>
              <a:t> (Para interatividade da interface, como 	validação de formulários).</a:t>
            </a:r>
          </a:p>
          <a:p>
            <a:r>
              <a:rPr lang="pt-BR" sz="1200" b="1" dirty="0"/>
              <a:t>Frameworks e Bibliotecas:</a:t>
            </a:r>
            <a:endParaRPr lang="pt-BR" sz="1200" dirty="0"/>
          </a:p>
          <a:p>
            <a:pPr marL="76200" indent="0">
              <a:buNone/>
            </a:pPr>
            <a:r>
              <a:rPr lang="pt-BR" sz="1200" dirty="0"/>
              <a:t>	</a:t>
            </a:r>
            <a:r>
              <a:rPr lang="pt-BR" sz="1200" dirty="0" err="1"/>
              <a:t>Bootstrap</a:t>
            </a:r>
            <a:r>
              <a:rPr lang="pt-BR" sz="1200" dirty="0"/>
              <a:t> 5 (Para agilizar a criação de um design 	responsivo e moderno).</a:t>
            </a:r>
          </a:p>
          <a:p>
            <a:pPr marL="76200" indent="0">
              <a:buNone/>
            </a:pPr>
            <a:endParaRPr lang="pt-BR" sz="1200" dirty="0"/>
          </a:p>
          <a:p>
            <a:pPr marL="76200" indent="0">
              <a:buNone/>
            </a:pPr>
            <a:endParaRPr lang="pt-BR" sz="12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3C4379E-7127-4927-9F4D-41F066F6B41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9</a:t>
            </a:fld>
            <a:endParaRPr lang="pt-BR"/>
          </a:p>
        </p:txBody>
      </p:sp>
      <p:grpSp>
        <p:nvGrpSpPr>
          <p:cNvPr id="5" name="Google Shape;239;p16">
            <a:extLst>
              <a:ext uri="{FF2B5EF4-FFF2-40B4-BE49-F238E27FC236}">
                <a16:creationId xmlns:a16="http://schemas.microsoft.com/office/drawing/2014/main" id="{4521B1F5-4D3F-4A9E-95CD-9AFD62B446D2}"/>
              </a:ext>
            </a:extLst>
          </p:cNvPr>
          <p:cNvGrpSpPr/>
          <p:nvPr/>
        </p:nvGrpSpPr>
        <p:grpSpPr>
          <a:xfrm>
            <a:off x="282216" y="590918"/>
            <a:ext cx="369505" cy="369505"/>
            <a:chOff x="2594050" y="1631825"/>
            <a:chExt cx="439625" cy="439625"/>
          </a:xfrm>
        </p:grpSpPr>
        <p:sp>
          <p:nvSpPr>
            <p:cNvPr id="6" name="Google Shape;240;p16">
              <a:extLst>
                <a:ext uri="{FF2B5EF4-FFF2-40B4-BE49-F238E27FC236}">
                  <a16:creationId xmlns:a16="http://schemas.microsoft.com/office/drawing/2014/main" id="{77509A3B-9686-4610-9AAC-8CD73F3E2519}"/>
                </a:ext>
              </a:extLst>
            </p:cNvPr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41;p16">
              <a:extLst>
                <a:ext uri="{FF2B5EF4-FFF2-40B4-BE49-F238E27FC236}">
                  <a16:creationId xmlns:a16="http://schemas.microsoft.com/office/drawing/2014/main" id="{9860CF4F-ABE1-4515-89E3-D17798839578}"/>
                </a:ext>
              </a:extLst>
            </p:cNvPr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42;p16">
              <a:extLst>
                <a:ext uri="{FF2B5EF4-FFF2-40B4-BE49-F238E27FC236}">
                  <a16:creationId xmlns:a16="http://schemas.microsoft.com/office/drawing/2014/main" id="{C21E957E-2D7B-439D-9008-0CA8460365A7}"/>
                </a:ext>
              </a:extLst>
            </p:cNvPr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43;p16">
              <a:extLst>
                <a:ext uri="{FF2B5EF4-FFF2-40B4-BE49-F238E27FC236}">
                  <a16:creationId xmlns:a16="http://schemas.microsoft.com/office/drawing/2014/main" id="{01455D85-480D-4DA3-B0FF-A7850570D0E4}"/>
                </a:ext>
              </a:extLst>
            </p:cNvPr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Espaço Reservado para Texto 2">
            <a:extLst>
              <a:ext uri="{FF2B5EF4-FFF2-40B4-BE49-F238E27FC236}">
                <a16:creationId xmlns:a16="http://schemas.microsoft.com/office/drawing/2014/main" id="{4C919FF3-7844-AAC6-1C11-61903782086D}"/>
              </a:ext>
            </a:extLst>
          </p:cNvPr>
          <p:cNvSpPr txBox="1">
            <a:spLocks/>
          </p:cNvSpPr>
          <p:nvPr/>
        </p:nvSpPr>
        <p:spPr>
          <a:xfrm>
            <a:off x="4740089" y="902597"/>
            <a:ext cx="4540157" cy="3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▰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accent4"/>
              </a:buClr>
              <a:buSzPts val="2400"/>
              <a:buFont typeface="Roboto Condensed Light"/>
              <a:buChar char="▻"/>
              <a:defRPr sz="2400" b="0" i="0" u="none" strike="noStrike" cap="none">
                <a:solidFill>
                  <a:schemeClr val="dk1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r>
              <a:rPr lang="pt-BR" sz="1200" b="1" dirty="0"/>
              <a:t>Ambiente e Outras Ferramentas:</a:t>
            </a:r>
            <a:endParaRPr lang="pt-BR" sz="1200" dirty="0"/>
          </a:p>
          <a:p>
            <a:pPr marL="76200" indent="0">
              <a:buNone/>
            </a:pPr>
            <a:r>
              <a:rPr lang="pt-BR" sz="1200" dirty="0"/>
              <a:t>	Visual Studio </a:t>
            </a:r>
            <a:r>
              <a:rPr lang="pt-BR" sz="1200" dirty="0" err="1"/>
              <a:t>Code</a:t>
            </a:r>
            <a:r>
              <a:rPr lang="pt-BR" sz="1200" dirty="0"/>
              <a:t> (Editor de código-fonte).</a:t>
            </a:r>
          </a:p>
          <a:p>
            <a:pPr marL="76200" indent="0">
              <a:buNone/>
            </a:pPr>
            <a:r>
              <a:rPr lang="pt-BR" sz="1200" dirty="0"/>
              <a:t>	</a:t>
            </a:r>
            <a:r>
              <a:rPr lang="pt-BR" sz="1200" dirty="0" err="1"/>
              <a:t>Git</a:t>
            </a:r>
            <a:r>
              <a:rPr lang="pt-BR" sz="1200" dirty="0"/>
              <a:t> / GitHub (Para controle de versão e backup do 	projeto).</a:t>
            </a:r>
          </a:p>
          <a:p>
            <a:pPr marL="76200" indent="0">
              <a:buNone/>
            </a:pPr>
            <a:r>
              <a:rPr lang="pt-BR" sz="1200" dirty="0"/>
              <a:t>	WAMP (Servidor local para desenvolvimento e testes).</a:t>
            </a:r>
          </a:p>
          <a:p>
            <a:pPr marL="76200" indent="0">
              <a:buNone/>
            </a:pPr>
            <a:r>
              <a:rPr lang="pt-BR" sz="1200" dirty="0"/>
              <a:t>	</a:t>
            </a:r>
            <a:r>
              <a:rPr lang="pt-BR" sz="1200" dirty="0" err="1"/>
              <a:t>Figma</a:t>
            </a:r>
            <a:r>
              <a:rPr lang="pt-BR" sz="1200" dirty="0"/>
              <a:t> (Para prototipação das telas - </a:t>
            </a:r>
            <a:r>
              <a:rPr lang="pt-BR" sz="1200" i="1" dirty="0"/>
              <a:t>coloque se você 	usou</a:t>
            </a:r>
            <a:r>
              <a:rPr lang="pt-BR" sz="1200" dirty="0"/>
              <a:t>).</a:t>
            </a:r>
          </a:p>
          <a:p>
            <a:endParaRPr lang="pt-BR" sz="1200" dirty="0"/>
          </a:p>
          <a:p>
            <a:pPr marL="76200" indent="0">
              <a:buFont typeface="Roboto Condensed Light"/>
              <a:buNone/>
            </a:pPr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12933599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6" name="Google Shape;376;p25"/>
          <p:cNvGrpSpPr/>
          <p:nvPr/>
        </p:nvGrpSpPr>
        <p:grpSpPr>
          <a:xfrm>
            <a:off x="552885" y="1385750"/>
            <a:ext cx="8044527" cy="2067200"/>
            <a:chOff x="185742" y="1287960"/>
            <a:chExt cx="8044527" cy="2067200"/>
          </a:xfrm>
        </p:grpSpPr>
        <p:sp>
          <p:nvSpPr>
            <p:cNvPr id="377" name="Google Shape;377;p25"/>
            <p:cNvSpPr/>
            <p:nvPr/>
          </p:nvSpPr>
          <p:spPr>
            <a:xfrm>
              <a:off x="6978450" y="1287960"/>
              <a:ext cx="1243800" cy="414300"/>
            </a:xfrm>
            <a:prstGeom prst="triangle">
              <a:avLst>
                <a:gd name="adj" fmla="val 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378" name="Google Shape;378;p25"/>
            <p:cNvSpPr/>
            <p:nvPr/>
          </p:nvSpPr>
          <p:spPr>
            <a:xfrm rot="10800000" flipH="1">
              <a:off x="1423250" y="1697050"/>
              <a:ext cx="5566500" cy="12438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379" name="Google Shape;379;p25"/>
            <p:cNvSpPr/>
            <p:nvPr/>
          </p:nvSpPr>
          <p:spPr>
            <a:xfrm rot="10800000" flipH="1">
              <a:off x="6986470" y="1697043"/>
              <a:ext cx="1243800" cy="12438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380" name="Google Shape;380;p25"/>
            <p:cNvSpPr/>
            <p:nvPr/>
          </p:nvSpPr>
          <p:spPr>
            <a:xfrm flipH="1">
              <a:off x="185742" y="1697043"/>
              <a:ext cx="1243800" cy="12438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381" name="Google Shape;381;p25"/>
            <p:cNvSpPr/>
            <p:nvPr/>
          </p:nvSpPr>
          <p:spPr>
            <a:xfrm rot="10800000">
              <a:off x="185748" y="2940860"/>
              <a:ext cx="1243800" cy="414300"/>
            </a:xfrm>
            <a:prstGeom prst="triangle">
              <a:avLst>
                <a:gd name="adj" fmla="val 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sp>
        <p:nvSpPr>
          <p:cNvPr id="382" name="Google Shape;382;p25"/>
          <p:cNvSpPr txBox="1">
            <a:spLocks noGrp="1"/>
          </p:cNvSpPr>
          <p:nvPr>
            <p:ph type="ctrTitle" idx="4294967295"/>
          </p:nvPr>
        </p:nvSpPr>
        <p:spPr>
          <a:xfrm>
            <a:off x="558475" y="1808800"/>
            <a:ext cx="8039100" cy="122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dirty="0">
                <a:solidFill>
                  <a:srgbClr val="3F5378"/>
                </a:solidFill>
              </a:rPr>
              <a:t>DEMONSTRAÇÃO DO PROJETO</a:t>
            </a:r>
            <a:endParaRPr sz="3600" dirty="0">
              <a:solidFill>
                <a:srgbClr val="3F5378"/>
              </a:solidFill>
            </a:endParaRPr>
          </a:p>
        </p:txBody>
      </p:sp>
      <p:sp>
        <p:nvSpPr>
          <p:cNvPr id="384" name="Google Shape;384;p25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55B9D9-D4C2-4064-95CB-32A357AFB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RESULTADOS OBTIDOS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7036460-3187-4DF8-B461-56853234FC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3C4379E-7127-4927-9F4D-41F066F6B41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11</a:t>
            </a:fld>
            <a:endParaRPr lang="pt-BR"/>
          </a:p>
        </p:txBody>
      </p:sp>
      <p:grpSp>
        <p:nvGrpSpPr>
          <p:cNvPr id="5" name="Google Shape;239;p16">
            <a:extLst>
              <a:ext uri="{FF2B5EF4-FFF2-40B4-BE49-F238E27FC236}">
                <a16:creationId xmlns:a16="http://schemas.microsoft.com/office/drawing/2014/main" id="{B0414C5E-D1E2-459C-874E-1E16D865C8DE}"/>
              </a:ext>
            </a:extLst>
          </p:cNvPr>
          <p:cNvGrpSpPr/>
          <p:nvPr/>
        </p:nvGrpSpPr>
        <p:grpSpPr>
          <a:xfrm>
            <a:off x="282216" y="590918"/>
            <a:ext cx="369505" cy="369505"/>
            <a:chOff x="2594050" y="1631825"/>
            <a:chExt cx="439625" cy="439625"/>
          </a:xfrm>
        </p:grpSpPr>
        <p:sp>
          <p:nvSpPr>
            <p:cNvPr id="6" name="Google Shape;240;p16">
              <a:extLst>
                <a:ext uri="{FF2B5EF4-FFF2-40B4-BE49-F238E27FC236}">
                  <a16:creationId xmlns:a16="http://schemas.microsoft.com/office/drawing/2014/main" id="{F1CA42D7-FE1C-45F3-A5FF-2CD06A7146B2}"/>
                </a:ext>
              </a:extLst>
            </p:cNvPr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41;p16">
              <a:extLst>
                <a:ext uri="{FF2B5EF4-FFF2-40B4-BE49-F238E27FC236}">
                  <a16:creationId xmlns:a16="http://schemas.microsoft.com/office/drawing/2014/main" id="{1067B1C5-1D6C-492F-A3CE-B6C9F6707EDF}"/>
                </a:ext>
              </a:extLst>
            </p:cNvPr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42;p16">
              <a:extLst>
                <a:ext uri="{FF2B5EF4-FFF2-40B4-BE49-F238E27FC236}">
                  <a16:creationId xmlns:a16="http://schemas.microsoft.com/office/drawing/2014/main" id="{3CE1EC9C-005F-4E9D-BBF2-B0537B31D760}"/>
                </a:ext>
              </a:extLst>
            </p:cNvPr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43;p16">
              <a:extLst>
                <a:ext uri="{FF2B5EF4-FFF2-40B4-BE49-F238E27FC236}">
                  <a16:creationId xmlns:a16="http://schemas.microsoft.com/office/drawing/2014/main" id="{759CD45D-16CB-468F-A395-B2C8CBDD4E40}"/>
                </a:ext>
              </a:extLst>
            </p:cNvPr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0783630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55B9D9-D4C2-4064-95CB-32A357AFB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CONCLUSÃO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7036460-3187-4DF8-B461-56853234FC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3C4379E-7127-4927-9F4D-41F066F6B41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12</a:t>
            </a:fld>
            <a:endParaRPr lang="pt-BR"/>
          </a:p>
        </p:txBody>
      </p:sp>
      <p:grpSp>
        <p:nvGrpSpPr>
          <p:cNvPr id="5" name="Google Shape;239;p16">
            <a:extLst>
              <a:ext uri="{FF2B5EF4-FFF2-40B4-BE49-F238E27FC236}">
                <a16:creationId xmlns:a16="http://schemas.microsoft.com/office/drawing/2014/main" id="{1533BA1C-025A-4F2F-BACF-36AEBDE09B42}"/>
              </a:ext>
            </a:extLst>
          </p:cNvPr>
          <p:cNvGrpSpPr/>
          <p:nvPr/>
        </p:nvGrpSpPr>
        <p:grpSpPr>
          <a:xfrm>
            <a:off x="282216" y="590918"/>
            <a:ext cx="369505" cy="369505"/>
            <a:chOff x="2594050" y="1631825"/>
            <a:chExt cx="439625" cy="439625"/>
          </a:xfrm>
        </p:grpSpPr>
        <p:sp>
          <p:nvSpPr>
            <p:cNvPr id="6" name="Google Shape;240;p16">
              <a:extLst>
                <a:ext uri="{FF2B5EF4-FFF2-40B4-BE49-F238E27FC236}">
                  <a16:creationId xmlns:a16="http://schemas.microsoft.com/office/drawing/2014/main" id="{692216B7-07A2-4ECF-9D21-7B4171601B39}"/>
                </a:ext>
              </a:extLst>
            </p:cNvPr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41;p16">
              <a:extLst>
                <a:ext uri="{FF2B5EF4-FFF2-40B4-BE49-F238E27FC236}">
                  <a16:creationId xmlns:a16="http://schemas.microsoft.com/office/drawing/2014/main" id="{0A909451-9FDD-44FA-8FFD-2A9BA59F3903}"/>
                </a:ext>
              </a:extLst>
            </p:cNvPr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42;p16">
              <a:extLst>
                <a:ext uri="{FF2B5EF4-FFF2-40B4-BE49-F238E27FC236}">
                  <a16:creationId xmlns:a16="http://schemas.microsoft.com/office/drawing/2014/main" id="{6E6E5109-9718-4E7F-AA75-EFF4D478B4E2}"/>
                </a:ext>
              </a:extLst>
            </p:cNvPr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43;p16">
              <a:extLst>
                <a:ext uri="{FF2B5EF4-FFF2-40B4-BE49-F238E27FC236}">
                  <a16:creationId xmlns:a16="http://schemas.microsoft.com/office/drawing/2014/main" id="{59026E26-6306-451C-A29A-B3BD8BA57017}"/>
                </a:ext>
              </a:extLst>
            </p:cNvPr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4503466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8EFCA0-967D-4A80-9F92-5874007DF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 BIBLIOGRÁFICAS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F72CAA1-001E-4B66-AC42-3D2E3CBBB0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dirty="0"/>
              <a:t>NASCIMENTO, Edson do. Library System - Sistema gerenciador de biblioteca escolar. 2018. Trabalho de Conclusão de Curso (Tecnólogo em Análise e Desenvolvimento de Sistemas) - Instituto Federal de Educação, Ciência e Tecnologia de Rondônia, Vilhena, 2018.</a:t>
            </a:r>
          </a:p>
          <a:p>
            <a:r>
              <a:rPr lang="pt-BR" sz="1200" dirty="0"/>
              <a:t>OLIVEIRA, Valdinei Lima de. Missão e finalidade da biblioteca escolar nos meandros do pensamento complexo. [Local, ano. Tipo de trabalho (</a:t>
            </a:r>
            <a:r>
              <a:rPr lang="pt-BR" sz="1200" dirty="0" err="1"/>
              <a:t>ex</a:t>
            </a:r>
            <a:r>
              <a:rPr lang="pt-BR" sz="1200" dirty="0"/>
              <a:t>: Artigo, Livro...) - Instituição ou Editora, se aplicável].</a:t>
            </a:r>
          </a:p>
          <a:p>
            <a:r>
              <a:rPr lang="pt-BR" sz="1200" dirty="0"/>
              <a:t>POLKE, Ana Maria Athayde. A Biblioteca Escolar e o seu papel na formação de hábitos de leitura. </a:t>
            </a:r>
            <a:r>
              <a:rPr lang="pt-BR" sz="1200" b="1" dirty="0"/>
              <a:t>Revista da Escola de Biblioteconomia da UFMG</a:t>
            </a:r>
            <a:r>
              <a:rPr lang="pt-BR" sz="1200" dirty="0"/>
              <a:t>, v. 2, n. 1, p. 60-72, mar. 1973.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F835D48-4F41-4CEC-9B6D-DEC2C6ADE09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13</a:t>
            </a:fld>
            <a:endParaRPr lang="pt-BR"/>
          </a:p>
        </p:txBody>
      </p:sp>
      <p:grpSp>
        <p:nvGrpSpPr>
          <p:cNvPr id="5" name="Google Shape;239;p16">
            <a:extLst>
              <a:ext uri="{FF2B5EF4-FFF2-40B4-BE49-F238E27FC236}">
                <a16:creationId xmlns:a16="http://schemas.microsoft.com/office/drawing/2014/main" id="{EA5E0F0C-2114-4295-B6DB-6208671CB5B7}"/>
              </a:ext>
            </a:extLst>
          </p:cNvPr>
          <p:cNvGrpSpPr/>
          <p:nvPr/>
        </p:nvGrpSpPr>
        <p:grpSpPr>
          <a:xfrm>
            <a:off x="282216" y="590918"/>
            <a:ext cx="369505" cy="369505"/>
            <a:chOff x="2594050" y="1631825"/>
            <a:chExt cx="439625" cy="439625"/>
          </a:xfrm>
        </p:grpSpPr>
        <p:sp>
          <p:nvSpPr>
            <p:cNvPr id="6" name="Google Shape;240;p16">
              <a:extLst>
                <a:ext uri="{FF2B5EF4-FFF2-40B4-BE49-F238E27FC236}">
                  <a16:creationId xmlns:a16="http://schemas.microsoft.com/office/drawing/2014/main" id="{0F27C1D9-6949-4600-B72F-DCCB26E408D4}"/>
                </a:ext>
              </a:extLst>
            </p:cNvPr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41;p16">
              <a:extLst>
                <a:ext uri="{FF2B5EF4-FFF2-40B4-BE49-F238E27FC236}">
                  <a16:creationId xmlns:a16="http://schemas.microsoft.com/office/drawing/2014/main" id="{B2834AC7-8319-4BC1-BF8E-E5268E4617CB}"/>
                </a:ext>
              </a:extLst>
            </p:cNvPr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42;p16">
              <a:extLst>
                <a:ext uri="{FF2B5EF4-FFF2-40B4-BE49-F238E27FC236}">
                  <a16:creationId xmlns:a16="http://schemas.microsoft.com/office/drawing/2014/main" id="{10178193-4BAD-4ED5-9215-248ACDEC98BD}"/>
                </a:ext>
              </a:extLst>
            </p:cNvPr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43;p16">
              <a:extLst>
                <a:ext uri="{FF2B5EF4-FFF2-40B4-BE49-F238E27FC236}">
                  <a16:creationId xmlns:a16="http://schemas.microsoft.com/office/drawing/2014/main" id="{CB43A891-84DC-4E95-B359-C7328A775259}"/>
                </a:ext>
              </a:extLst>
            </p:cNvPr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542770329"/>
      </p:ext>
    </p:extLst>
  </p:cSld>
  <p:clrMapOvr>
    <a:masterClrMapping/>
  </p:clrMapOvr>
</p:sld>
</file>

<file path=ppt/theme/theme1.xml><?xml version="1.0" encoding="utf-8"?>
<a:theme xmlns:a="http://schemas.openxmlformats.org/drawingml/2006/main" name="Salerio template">
  <a:themeElements>
    <a:clrScheme name="Custom 347">
      <a:dk1>
        <a:srgbClr val="263248"/>
      </a:dk1>
      <a:lt1>
        <a:srgbClr val="FFFFFF"/>
      </a:lt1>
      <a:dk2>
        <a:srgbClr val="434343"/>
      </a:dk2>
      <a:lt2>
        <a:srgbClr val="E0E4E9"/>
      </a:lt2>
      <a:accent1>
        <a:srgbClr val="3F5378"/>
      </a:accent1>
      <a:accent2>
        <a:srgbClr val="263248"/>
      </a:accent2>
      <a:accent3>
        <a:srgbClr val="92A8C8"/>
      </a:accent3>
      <a:accent4>
        <a:srgbClr val="C7D3E6"/>
      </a:accent4>
      <a:accent5>
        <a:srgbClr val="FF9800"/>
      </a:accent5>
      <a:accent6>
        <a:srgbClr val="D26F00"/>
      </a:accent6>
      <a:hlink>
        <a:srgbClr val="3F5378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318032911605B64BA55647B02E14C17A" ma:contentTypeVersion="4" ma:contentTypeDescription="Crie um novo documento." ma:contentTypeScope="" ma:versionID="2af110df3aa069b07e36e67da99f076e">
  <xsd:schema xmlns:xsd="http://www.w3.org/2001/XMLSchema" xmlns:xs="http://www.w3.org/2001/XMLSchema" xmlns:p="http://schemas.microsoft.com/office/2006/metadata/properties" xmlns:ns2="c5d1dc3e-f0de-473c-9346-32b944c455f2" targetNamespace="http://schemas.microsoft.com/office/2006/metadata/properties" ma:root="true" ma:fieldsID="e30c1a09ece0d2b3a79f025f7ae6b5f1" ns2:_="">
    <xsd:import namespace="c5d1dc3e-f0de-473c-9346-32b944c455f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d1dc3e-f0de-473c-9346-32b944c455f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C123D85-65B3-4188-8A9C-A4F8604B432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39638950-0C15-4CEF-9825-40D26346FC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5d1dc3e-f0de-473c-9346-32b944c455f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A4921FC-8D4C-418D-B8F5-A7772643684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700</Words>
  <Application>Microsoft Office PowerPoint</Application>
  <PresentationFormat>Apresentação na tela (16:9)</PresentationFormat>
  <Paragraphs>81</Paragraphs>
  <Slides>13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8" baseType="lpstr">
      <vt:lpstr>Roboto Condensed</vt:lpstr>
      <vt:lpstr>Arvo</vt:lpstr>
      <vt:lpstr>Roboto Condensed Light</vt:lpstr>
      <vt:lpstr>Arial</vt:lpstr>
      <vt:lpstr>Salerio template</vt:lpstr>
      <vt:lpstr>  BiblioETEC</vt:lpstr>
      <vt:lpstr>INTEGRANTES DO GRUPO</vt:lpstr>
      <vt:lpstr>PROBLEMA DE PESQUISA</vt:lpstr>
      <vt:lpstr>JUSTIFICATIVA </vt:lpstr>
      <vt:lpstr>OBJETIVOS</vt:lpstr>
      <vt:lpstr>METODOLOGIA</vt:lpstr>
      <vt:lpstr>TRABALHOS RELACIONADOS</vt:lpstr>
      <vt:lpstr>ANÁLISE DE SIMILARES</vt:lpstr>
      <vt:lpstr>FERRAMENTAS UTILIZADAS</vt:lpstr>
      <vt:lpstr>DEMONSTRAÇÃO DO PROJETO</vt:lpstr>
      <vt:lpstr>RESULTADOS OBTIDOS</vt:lpstr>
      <vt:lpstr>CONCLUSÃO</vt:lpstr>
      <vt:lpstr>REFERÊNCIAS BIBLIOGRÁFICAS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 DO TCC</dc:title>
  <dc:creator>Etec</dc:creator>
  <cp:lastModifiedBy>Rafael Botacini Luz</cp:lastModifiedBy>
  <cp:revision>13</cp:revision>
  <dcterms:modified xsi:type="dcterms:W3CDTF">2025-10-29T01:20:45Z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0x010100318032911605B64BA55647B02E14C17A</vt:lpwstr>
  </property>
</Properties>
</file>